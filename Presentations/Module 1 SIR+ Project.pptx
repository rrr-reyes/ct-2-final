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Cormorant Garamond Bold Italics" charset="1" panose="00000800000000000000"/>
      <p:regular r:id="rId13"/>
    </p:embeddedFont>
    <p:embeddedFont>
      <p:font typeface="Quicksand" charset="1" panose="00000000000000000000"/>
      <p:regular r:id="rId14"/>
    </p:embeddedFont>
    <p:embeddedFont>
      <p:font typeface="Quicksand Bold" charset="1" panose="0000000000000000000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1043764" y="2419198"/>
            <a:ext cx="16229942" cy="2149474"/>
          </a:xfrm>
          <a:prstGeom prst="rect">
            <a:avLst/>
          </a:prstGeom>
        </p:spPr>
        <p:txBody>
          <a:bodyPr anchor="t" rtlCol="false" tIns="0" lIns="0" bIns="0" rIns="0">
            <a:spAutoFit/>
          </a:bodyPr>
          <a:lstStyle/>
          <a:p>
            <a:pPr algn="ctr" marL="0" indent="0" lvl="0">
              <a:lnSpc>
                <a:spcPts val="17500"/>
              </a:lnSpc>
              <a:spcBef>
                <a:spcPct val="0"/>
              </a:spcBef>
            </a:pPr>
            <a:r>
              <a:rPr lang="en-US" b="true" sz="12500" i="true">
                <a:solidFill>
                  <a:srgbClr val="0F4662"/>
                </a:solidFill>
                <a:latin typeface="Cormorant Garamond Bold Italics"/>
                <a:ea typeface="Cormorant Garamond Bold Italics"/>
                <a:cs typeface="Cormorant Garamond Bold Italics"/>
                <a:sym typeface="Cormorant Garamond Bold Italics"/>
              </a:rPr>
              <a:t>PROJECT 1: SIR+ MODEL</a:t>
            </a:r>
          </a:p>
        </p:txBody>
      </p:sp>
      <p:sp>
        <p:nvSpPr>
          <p:cNvPr name="AutoShape 3" id="3"/>
          <p:cNvSpPr/>
          <p:nvPr/>
        </p:nvSpPr>
        <p:spPr>
          <a:xfrm>
            <a:off x="9158735" y="990600"/>
            <a:ext cx="8114971" cy="0"/>
          </a:xfrm>
          <a:prstGeom prst="line">
            <a:avLst/>
          </a:prstGeom>
          <a:ln cap="flat" w="76200">
            <a:solidFill>
              <a:srgbClr val="0F4662"/>
            </a:solidFill>
            <a:prstDash val="solid"/>
            <a:headEnd type="none" len="sm" w="sm"/>
            <a:tailEnd type="none" len="sm" w="sm"/>
          </a:ln>
        </p:spPr>
      </p:sp>
      <p:sp>
        <p:nvSpPr>
          <p:cNvPr name="AutoShape 4" id="4"/>
          <p:cNvSpPr/>
          <p:nvPr/>
        </p:nvSpPr>
        <p:spPr>
          <a:xfrm>
            <a:off x="1043764" y="9296400"/>
            <a:ext cx="8114971" cy="0"/>
          </a:xfrm>
          <a:prstGeom prst="line">
            <a:avLst/>
          </a:prstGeom>
          <a:ln cap="flat" w="76200">
            <a:solidFill>
              <a:srgbClr val="0F4662"/>
            </a:solidFill>
            <a:prstDash val="solid"/>
            <a:headEnd type="none" len="sm" w="sm"/>
            <a:tailEnd type="none" len="sm" w="sm"/>
          </a:ln>
        </p:spPr>
      </p:sp>
      <p:sp>
        <p:nvSpPr>
          <p:cNvPr name="Freeform 5" id="5"/>
          <p:cNvSpPr/>
          <p:nvPr/>
        </p:nvSpPr>
        <p:spPr>
          <a:xfrm flipH="false" flipV="false" rot="0">
            <a:off x="9618706" y="9037492"/>
            <a:ext cx="2968854" cy="441617"/>
          </a:xfrm>
          <a:custGeom>
            <a:avLst/>
            <a:gdLst/>
            <a:ahLst/>
            <a:cxnLst/>
            <a:rect r="r" b="b" t="t" l="l"/>
            <a:pathLst>
              <a:path h="441617" w="2968854">
                <a:moveTo>
                  <a:pt x="0" y="0"/>
                </a:moveTo>
                <a:lnTo>
                  <a:pt x="2968854" y="0"/>
                </a:lnTo>
                <a:lnTo>
                  <a:pt x="2968854" y="441616"/>
                </a:lnTo>
                <a:lnTo>
                  <a:pt x="0" y="4416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2737539" y="4676953"/>
            <a:ext cx="12812922" cy="837844"/>
          </a:xfrm>
          <a:prstGeom prst="rect">
            <a:avLst/>
          </a:prstGeom>
        </p:spPr>
        <p:txBody>
          <a:bodyPr anchor="t" rtlCol="false" tIns="0" lIns="0" bIns="0" rIns="0">
            <a:spAutoFit/>
          </a:bodyPr>
          <a:lstStyle/>
          <a:p>
            <a:pPr algn="ctr" marL="0" indent="0" lvl="0">
              <a:lnSpc>
                <a:spcPts val="6844"/>
              </a:lnSpc>
              <a:spcBef>
                <a:spcPct val="0"/>
              </a:spcBef>
            </a:pPr>
            <a:r>
              <a:rPr lang="en-US" sz="4889">
                <a:solidFill>
                  <a:srgbClr val="0F4662"/>
                </a:solidFill>
                <a:latin typeface="Quicksand"/>
                <a:ea typeface="Quicksand"/>
                <a:cs typeface="Quicksand"/>
                <a:sym typeface="Quicksand"/>
              </a:rPr>
              <a:t>Computational Thinking II</a:t>
            </a:r>
          </a:p>
        </p:txBody>
      </p:sp>
      <p:sp>
        <p:nvSpPr>
          <p:cNvPr name="TextBox 7" id="7"/>
          <p:cNvSpPr txBox="true"/>
          <p:nvPr/>
        </p:nvSpPr>
        <p:spPr>
          <a:xfrm rot="0">
            <a:off x="5646742" y="5840286"/>
            <a:ext cx="6988496" cy="2499581"/>
          </a:xfrm>
          <a:prstGeom prst="rect">
            <a:avLst/>
          </a:prstGeom>
        </p:spPr>
        <p:txBody>
          <a:bodyPr anchor="t" rtlCol="false" tIns="0" lIns="0" bIns="0" rIns="0">
            <a:spAutoFit/>
          </a:bodyPr>
          <a:lstStyle/>
          <a:p>
            <a:pPr algn="ctr">
              <a:lnSpc>
                <a:spcPts val="3977"/>
              </a:lnSpc>
            </a:pPr>
            <a:r>
              <a:rPr lang="en-US" sz="2841">
                <a:solidFill>
                  <a:srgbClr val="0F4662"/>
                </a:solidFill>
                <a:latin typeface="Quicksand"/>
                <a:ea typeface="Quicksand"/>
                <a:cs typeface="Quicksand"/>
                <a:sym typeface="Quicksand"/>
              </a:rPr>
              <a:t>Presented by Group 1:</a:t>
            </a:r>
            <a:r>
              <a:rPr lang="en-US" sz="2841">
                <a:solidFill>
                  <a:srgbClr val="0F4662"/>
                </a:solidFill>
                <a:latin typeface="Quicksand"/>
                <a:ea typeface="Quicksand"/>
                <a:cs typeface="Quicksand"/>
                <a:sym typeface="Quicksand"/>
              </a:rPr>
              <a:t> </a:t>
            </a:r>
          </a:p>
          <a:p>
            <a:pPr algn="ctr">
              <a:lnSpc>
                <a:spcPts val="3977"/>
              </a:lnSpc>
            </a:pPr>
            <a:r>
              <a:rPr lang="en-US" sz="2841">
                <a:solidFill>
                  <a:srgbClr val="0F4662"/>
                </a:solidFill>
                <a:latin typeface="Quicksand"/>
                <a:ea typeface="Quicksand"/>
                <a:cs typeface="Quicksand"/>
                <a:sym typeface="Quicksand"/>
              </a:rPr>
              <a:t>Tolu Adeola</a:t>
            </a:r>
          </a:p>
          <a:p>
            <a:pPr algn="ctr">
              <a:lnSpc>
                <a:spcPts val="3977"/>
              </a:lnSpc>
            </a:pPr>
            <a:r>
              <a:rPr lang="en-US" sz="2841">
                <a:solidFill>
                  <a:srgbClr val="0F4662"/>
                </a:solidFill>
                <a:latin typeface="Quicksand"/>
                <a:ea typeface="Quicksand"/>
                <a:cs typeface="Quicksand"/>
                <a:sym typeface="Quicksand"/>
              </a:rPr>
              <a:t>Maloney Tutu</a:t>
            </a:r>
          </a:p>
          <a:p>
            <a:pPr algn="ctr">
              <a:lnSpc>
                <a:spcPts val="3977"/>
              </a:lnSpc>
            </a:pPr>
            <a:r>
              <a:rPr lang="en-US" sz="2841">
                <a:solidFill>
                  <a:srgbClr val="0F4662"/>
                </a:solidFill>
                <a:latin typeface="Quicksand"/>
                <a:ea typeface="Quicksand"/>
                <a:cs typeface="Quicksand"/>
                <a:sym typeface="Quicksand"/>
              </a:rPr>
              <a:t>Ralph Reyes</a:t>
            </a:r>
          </a:p>
          <a:p>
            <a:pPr algn="ctr" marL="0" indent="0" lvl="0">
              <a:lnSpc>
                <a:spcPts val="3977"/>
              </a:lnSpc>
              <a:spcBef>
                <a:spcPct val="0"/>
              </a:spcBef>
            </a:pPr>
            <a:r>
              <a:rPr lang="en-US" sz="2841">
                <a:solidFill>
                  <a:srgbClr val="0F4662"/>
                </a:solidFill>
                <a:latin typeface="Quicksand"/>
                <a:ea typeface="Quicksand"/>
                <a:cs typeface="Quicksand"/>
                <a:sym typeface="Quicksand"/>
              </a:rPr>
              <a:t>Earl Pough</a:t>
            </a:r>
          </a:p>
        </p:txBody>
      </p:sp>
      <p:sp>
        <p:nvSpPr>
          <p:cNvPr name="Freeform 8" id="8"/>
          <p:cNvSpPr/>
          <p:nvPr/>
        </p:nvSpPr>
        <p:spPr>
          <a:xfrm flipH="false" flipV="false" rot="0">
            <a:off x="5646742" y="807892"/>
            <a:ext cx="2968854" cy="441617"/>
          </a:xfrm>
          <a:custGeom>
            <a:avLst/>
            <a:gdLst/>
            <a:ahLst/>
            <a:cxnLst/>
            <a:rect r="r" b="b" t="t" l="l"/>
            <a:pathLst>
              <a:path h="441617" w="2968854">
                <a:moveTo>
                  <a:pt x="0" y="0"/>
                </a:moveTo>
                <a:lnTo>
                  <a:pt x="2968854" y="0"/>
                </a:lnTo>
                <a:lnTo>
                  <a:pt x="2968854" y="441616"/>
                </a:lnTo>
                <a:lnTo>
                  <a:pt x="0" y="4416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AutoShape 2" id="2"/>
          <p:cNvSpPr/>
          <p:nvPr/>
        </p:nvSpPr>
        <p:spPr>
          <a:xfrm>
            <a:off x="5897880" y="2199562"/>
            <a:ext cx="6492240" cy="0"/>
          </a:xfrm>
          <a:prstGeom prst="line">
            <a:avLst/>
          </a:prstGeom>
          <a:ln cap="flat" w="76200">
            <a:solidFill>
              <a:srgbClr val="0F4662"/>
            </a:solidFill>
            <a:prstDash val="solid"/>
            <a:headEnd type="none" len="sm" w="sm"/>
            <a:tailEnd type="none" len="sm" w="sm"/>
          </a:ln>
        </p:spPr>
      </p:sp>
      <p:sp>
        <p:nvSpPr>
          <p:cNvPr name="AutoShape 3" id="3"/>
          <p:cNvSpPr/>
          <p:nvPr/>
        </p:nvSpPr>
        <p:spPr>
          <a:xfrm>
            <a:off x="5897880" y="8669648"/>
            <a:ext cx="6492240" cy="0"/>
          </a:xfrm>
          <a:prstGeom prst="line">
            <a:avLst/>
          </a:prstGeom>
          <a:ln cap="flat" w="76200">
            <a:solidFill>
              <a:srgbClr val="0F4662"/>
            </a:solidFill>
            <a:prstDash val="solid"/>
            <a:headEnd type="none" len="sm" w="sm"/>
            <a:tailEnd type="none" len="sm" w="sm"/>
          </a:ln>
        </p:spPr>
      </p:sp>
      <p:sp>
        <p:nvSpPr>
          <p:cNvPr name="Freeform 4" id="4"/>
          <p:cNvSpPr/>
          <p:nvPr/>
        </p:nvSpPr>
        <p:spPr>
          <a:xfrm flipH="false" flipV="false" rot="0">
            <a:off x="8304001" y="1684924"/>
            <a:ext cx="1679997" cy="249900"/>
          </a:xfrm>
          <a:custGeom>
            <a:avLst/>
            <a:gdLst/>
            <a:ahLst/>
            <a:cxnLst/>
            <a:rect r="r" b="b" t="t" l="l"/>
            <a:pathLst>
              <a:path h="249900" w="1679997">
                <a:moveTo>
                  <a:pt x="0" y="0"/>
                </a:moveTo>
                <a:lnTo>
                  <a:pt x="1679998" y="0"/>
                </a:lnTo>
                <a:lnTo>
                  <a:pt x="1679998"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028700" y="599709"/>
            <a:ext cx="8048163"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Scenario</a:t>
            </a:r>
          </a:p>
        </p:txBody>
      </p:sp>
      <p:sp>
        <p:nvSpPr>
          <p:cNvPr name="Freeform 6" id="6"/>
          <p:cNvSpPr/>
          <p:nvPr/>
        </p:nvSpPr>
        <p:spPr>
          <a:xfrm flipH="false" flipV="false" rot="0">
            <a:off x="8304001" y="9008400"/>
            <a:ext cx="1679997" cy="249900"/>
          </a:xfrm>
          <a:custGeom>
            <a:avLst/>
            <a:gdLst/>
            <a:ahLst/>
            <a:cxnLst/>
            <a:rect r="r" b="b" t="t" l="l"/>
            <a:pathLst>
              <a:path h="249900" w="1679997">
                <a:moveTo>
                  <a:pt x="0" y="0"/>
                </a:moveTo>
                <a:lnTo>
                  <a:pt x="1679998" y="0"/>
                </a:lnTo>
                <a:lnTo>
                  <a:pt x="1679998"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3556646" y="2418637"/>
            <a:ext cx="11174709" cy="2333845"/>
          </a:xfrm>
          <a:prstGeom prst="rect">
            <a:avLst/>
          </a:prstGeom>
        </p:spPr>
        <p:txBody>
          <a:bodyPr anchor="t" rtlCol="false" tIns="0" lIns="0" bIns="0" rIns="0">
            <a:spAutoFit/>
          </a:bodyPr>
          <a:lstStyle/>
          <a:p>
            <a:pPr algn="ctr">
              <a:lnSpc>
                <a:spcPts val="3137"/>
              </a:lnSpc>
            </a:pPr>
            <a:r>
              <a:rPr lang="en-US" sz="2241">
                <a:solidFill>
                  <a:srgbClr val="0F4662"/>
                </a:solidFill>
                <a:latin typeface="Quicksand"/>
                <a:ea typeface="Quicksand"/>
                <a:cs typeface="Quicksand"/>
                <a:sym typeface="Quicksand"/>
              </a:rPr>
              <a:t>On the island, an unknown virus has begun to spread, with one individual already infected. The remaining population is entirely susceptible, with no recoveries recorded so far. There is also the unsettling possibility that the virus could mutate, resulting in the creation of an Intelligent Zombie—an infected person who retains their human memories but is driven by a craving for human flesh. </a:t>
            </a:r>
          </a:p>
          <a:p>
            <a:pPr algn="ctr">
              <a:lnSpc>
                <a:spcPts val="3137"/>
              </a:lnSpc>
              <a:spcBef>
                <a:spcPct val="0"/>
              </a:spcBef>
            </a:pPr>
          </a:p>
        </p:txBody>
      </p:sp>
      <p:sp>
        <p:nvSpPr>
          <p:cNvPr name="TextBox 8" id="8"/>
          <p:cNvSpPr txBox="true"/>
          <p:nvPr/>
        </p:nvSpPr>
        <p:spPr>
          <a:xfrm rot="0">
            <a:off x="5739781" y="4434609"/>
            <a:ext cx="6808437" cy="4358640"/>
          </a:xfrm>
          <a:prstGeom prst="rect">
            <a:avLst/>
          </a:prstGeom>
        </p:spPr>
        <p:txBody>
          <a:bodyPr anchor="t" rtlCol="false" tIns="0" lIns="0" bIns="0" rIns="0">
            <a:spAutoFit/>
          </a:bodyPr>
          <a:lstStyle/>
          <a:p>
            <a:pPr algn="ctr">
              <a:lnSpc>
                <a:spcPts val="3639"/>
              </a:lnSpc>
            </a:pPr>
            <a:r>
              <a:rPr lang="en-US" b="true" sz="2599" u="sng">
                <a:solidFill>
                  <a:srgbClr val="0F4662"/>
                </a:solidFill>
                <a:latin typeface="Quicksand Bold"/>
                <a:ea typeface="Quicksand Bold"/>
                <a:cs typeface="Quicksand Bold"/>
                <a:sym typeface="Quicksand Bold"/>
              </a:rPr>
              <a:t>Here’s what we intially know:</a:t>
            </a:r>
          </a:p>
          <a:p>
            <a:pPr algn="ctr">
              <a:lnSpc>
                <a:spcPts val="3079"/>
              </a:lnSpc>
            </a:pPr>
          </a:p>
          <a:p>
            <a:pPr algn="l" marL="474979" indent="-237490" lvl="1">
              <a:lnSpc>
                <a:spcPts val="3079"/>
              </a:lnSpc>
              <a:buFont typeface="Arial"/>
              <a:buChar char="•"/>
            </a:pPr>
            <a:r>
              <a:rPr lang="en-US" b="true" sz="2199">
                <a:solidFill>
                  <a:srgbClr val="0F4662"/>
                </a:solidFill>
                <a:latin typeface="Quicksand Bold"/>
                <a:ea typeface="Quicksand Bold"/>
                <a:cs typeface="Quicksand Bold"/>
                <a:sym typeface="Quicksand Bold"/>
              </a:rPr>
              <a:t>Total population</a:t>
            </a:r>
            <a:r>
              <a:rPr lang="en-US" sz="2199">
                <a:solidFill>
                  <a:srgbClr val="0F4662"/>
                </a:solidFill>
                <a:latin typeface="Quicksand"/>
                <a:ea typeface="Quicksand"/>
                <a:cs typeface="Quicksand"/>
                <a:sym typeface="Quicksand"/>
              </a:rPr>
              <a:t>: 50 individuals</a:t>
            </a:r>
          </a:p>
          <a:p>
            <a:pPr algn="l" marL="474979" indent="-237490" lvl="1">
              <a:lnSpc>
                <a:spcPts val="3079"/>
              </a:lnSpc>
              <a:buFont typeface="Arial"/>
              <a:buChar char="•"/>
            </a:pPr>
            <a:r>
              <a:rPr lang="en-US" b="true" sz="2199">
                <a:solidFill>
                  <a:srgbClr val="0F4662"/>
                </a:solidFill>
                <a:latin typeface="Quicksand Bold"/>
                <a:ea typeface="Quicksand Bold"/>
                <a:cs typeface="Quicksand Bold"/>
                <a:sym typeface="Quicksand Bold"/>
              </a:rPr>
              <a:t>Susceptible</a:t>
            </a:r>
            <a:r>
              <a:rPr lang="en-US" sz="2199">
                <a:solidFill>
                  <a:srgbClr val="0F4662"/>
                </a:solidFill>
                <a:latin typeface="Quicksand"/>
                <a:ea typeface="Quicksand"/>
                <a:cs typeface="Quicksand"/>
                <a:sym typeface="Quicksand"/>
              </a:rPr>
              <a:t>: 49 individuals</a:t>
            </a:r>
          </a:p>
          <a:p>
            <a:pPr algn="l" marL="474979" indent="-237490" lvl="1">
              <a:lnSpc>
                <a:spcPts val="3079"/>
              </a:lnSpc>
              <a:buFont typeface="Arial"/>
              <a:buChar char="•"/>
            </a:pPr>
            <a:r>
              <a:rPr lang="en-US" b="true" sz="2199">
                <a:solidFill>
                  <a:srgbClr val="0F4662"/>
                </a:solidFill>
                <a:latin typeface="Quicksand Bold"/>
                <a:ea typeface="Quicksand Bold"/>
                <a:cs typeface="Quicksand Bold"/>
                <a:sym typeface="Quicksand Bold"/>
              </a:rPr>
              <a:t>Infected</a:t>
            </a:r>
            <a:r>
              <a:rPr lang="en-US" sz="2199">
                <a:solidFill>
                  <a:srgbClr val="0F4662"/>
                </a:solidFill>
                <a:latin typeface="Quicksand"/>
                <a:ea typeface="Quicksand"/>
                <a:cs typeface="Quicksand"/>
                <a:sym typeface="Quicksand"/>
              </a:rPr>
              <a:t>: 1 individual</a:t>
            </a:r>
          </a:p>
          <a:p>
            <a:pPr algn="l" marL="474979" indent="-237490" lvl="1">
              <a:lnSpc>
                <a:spcPts val="3079"/>
              </a:lnSpc>
              <a:buFont typeface="Arial"/>
              <a:buChar char="•"/>
            </a:pPr>
            <a:r>
              <a:rPr lang="en-US" b="true" sz="2199">
                <a:solidFill>
                  <a:srgbClr val="0F4662"/>
                </a:solidFill>
                <a:latin typeface="Quicksand Bold"/>
                <a:ea typeface="Quicksand Bold"/>
                <a:cs typeface="Quicksand Bold"/>
                <a:sym typeface="Quicksand Bold"/>
              </a:rPr>
              <a:t>Recovered</a:t>
            </a:r>
            <a:r>
              <a:rPr lang="en-US" sz="2199">
                <a:solidFill>
                  <a:srgbClr val="0F4662"/>
                </a:solidFill>
                <a:latin typeface="Quicksand"/>
                <a:ea typeface="Quicksand"/>
                <a:cs typeface="Quicksand"/>
                <a:sym typeface="Quicksand"/>
              </a:rPr>
              <a:t>: 0 individual</a:t>
            </a:r>
          </a:p>
          <a:p>
            <a:pPr algn="l" marL="474979" indent="-237490" lvl="1">
              <a:lnSpc>
                <a:spcPts val="3079"/>
              </a:lnSpc>
              <a:buFont typeface="Arial"/>
              <a:buChar char="•"/>
            </a:pPr>
            <a:r>
              <a:rPr lang="en-US" b="true" sz="2199">
                <a:solidFill>
                  <a:srgbClr val="0F4662"/>
                </a:solidFill>
                <a:latin typeface="Quicksand Bold"/>
                <a:ea typeface="Quicksand Bold"/>
                <a:cs typeface="Quicksand Bold"/>
                <a:sym typeface="Quicksand Bold"/>
              </a:rPr>
              <a:t>Intelligent Zombies</a:t>
            </a:r>
            <a:r>
              <a:rPr lang="en-US" sz="2199">
                <a:solidFill>
                  <a:srgbClr val="0F4662"/>
                </a:solidFill>
                <a:latin typeface="Quicksand"/>
                <a:ea typeface="Quicksand"/>
                <a:cs typeface="Quicksand"/>
                <a:sym typeface="Quicksand"/>
              </a:rPr>
              <a:t>: 0 individual</a:t>
            </a:r>
          </a:p>
          <a:p>
            <a:pPr algn="l" marL="474979" indent="-237490" lvl="1">
              <a:lnSpc>
                <a:spcPts val="3079"/>
              </a:lnSpc>
              <a:buFont typeface="Arial"/>
              <a:buChar char="•"/>
            </a:pPr>
            <a:r>
              <a:rPr lang="en-US" b="true" sz="2199">
                <a:solidFill>
                  <a:srgbClr val="0F4662"/>
                </a:solidFill>
                <a:latin typeface="Quicksand Bold"/>
                <a:ea typeface="Quicksand Bold"/>
                <a:cs typeface="Quicksand Bold"/>
                <a:sym typeface="Quicksand Bold"/>
              </a:rPr>
              <a:t>Infection Rate (α):</a:t>
            </a:r>
            <a:r>
              <a:rPr lang="en-US" sz="2199">
                <a:solidFill>
                  <a:srgbClr val="0F4662"/>
                </a:solidFill>
                <a:latin typeface="Quicksand"/>
                <a:ea typeface="Quicksand"/>
                <a:cs typeface="Quicksand"/>
                <a:sym typeface="Quicksand"/>
              </a:rPr>
              <a:t> 0.1</a:t>
            </a:r>
          </a:p>
          <a:p>
            <a:pPr algn="l" marL="474979" indent="-237490" lvl="1">
              <a:lnSpc>
                <a:spcPts val="3079"/>
              </a:lnSpc>
              <a:buFont typeface="Arial"/>
              <a:buChar char="•"/>
            </a:pPr>
            <a:r>
              <a:rPr lang="en-US" b="true" sz="2199">
                <a:solidFill>
                  <a:srgbClr val="0F4662"/>
                </a:solidFill>
                <a:latin typeface="Quicksand Bold"/>
                <a:ea typeface="Quicksand Bold"/>
                <a:cs typeface="Quicksand Bold"/>
                <a:sym typeface="Quicksand Bold"/>
              </a:rPr>
              <a:t>Recovery Rate (β):</a:t>
            </a:r>
            <a:r>
              <a:rPr lang="en-US" sz="2199">
                <a:solidFill>
                  <a:srgbClr val="0F4662"/>
                </a:solidFill>
                <a:latin typeface="Quicksand"/>
                <a:ea typeface="Quicksand"/>
                <a:cs typeface="Quicksand"/>
                <a:sym typeface="Quicksand"/>
              </a:rPr>
              <a:t> 0.05</a:t>
            </a:r>
          </a:p>
          <a:p>
            <a:pPr algn="l" marL="474979" indent="-237490" lvl="1">
              <a:lnSpc>
                <a:spcPts val="3079"/>
              </a:lnSpc>
              <a:buFont typeface="Arial"/>
              <a:buChar char="•"/>
            </a:pPr>
            <a:r>
              <a:rPr lang="en-US" b="true" sz="2199">
                <a:solidFill>
                  <a:srgbClr val="0F4662"/>
                </a:solidFill>
                <a:latin typeface="Quicksand Bold"/>
                <a:ea typeface="Quicksand Bold"/>
                <a:cs typeface="Quicksand Bold"/>
                <a:sym typeface="Quicksand Bold"/>
              </a:rPr>
              <a:t>Mutation Rate (γ):</a:t>
            </a:r>
            <a:r>
              <a:rPr lang="en-US" sz="2199">
                <a:solidFill>
                  <a:srgbClr val="0F4662"/>
                </a:solidFill>
                <a:latin typeface="Quicksand"/>
                <a:ea typeface="Quicksand"/>
                <a:cs typeface="Quicksand"/>
                <a:sym typeface="Quicksand"/>
              </a:rPr>
              <a:t> 0.02</a:t>
            </a:r>
          </a:p>
          <a:p>
            <a:pPr algn="l">
              <a:lnSpc>
                <a:spcPts val="3079"/>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2573764" y="2584731"/>
            <a:ext cx="2558769" cy="255876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5757"/>
            </a:solidFill>
          </p:spPr>
        </p:sp>
        <p:sp>
          <p:nvSpPr>
            <p:cNvPr name="TextBox 4" id="4"/>
            <p:cNvSpPr txBox="true"/>
            <p:nvPr/>
          </p:nvSpPr>
          <p:spPr>
            <a:xfrm>
              <a:off x="76200" y="-171450"/>
              <a:ext cx="660400" cy="908050"/>
            </a:xfrm>
            <a:prstGeom prst="rect">
              <a:avLst/>
            </a:prstGeom>
          </p:spPr>
          <p:txBody>
            <a:bodyPr anchor="ctr" rtlCol="false" tIns="50800" lIns="50800" bIns="50800" rIns="50800"/>
            <a:lstStyle/>
            <a:p>
              <a:pPr algn="ctr">
                <a:lnSpc>
                  <a:spcPts val="8500"/>
                </a:lnSpc>
              </a:pPr>
              <a:r>
                <a:rPr lang="en-US" b="true" sz="5000">
                  <a:solidFill>
                    <a:srgbClr val="FFFFFF"/>
                  </a:solidFill>
                  <a:latin typeface="Quicksand Bold"/>
                  <a:ea typeface="Quicksand Bold"/>
                  <a:cs typeface="Quicksand Bold"/>
                  <a:sym typeface="Quicksand Bold"/>
                </a:rPr>
                <a:t>S</a:t>
              </a:r>
            </a:p>
          </p:txBody>
        </p:sp>
      </p:grpSp>
      <p:grpSp>
        <p:nvGrpSpPr>
          <p:cNvPr name="Group 5" id="5"/>
          <p:cNvGrpSpPr/>
          <p:nvPr/>
        </p:nvGrpSpPr>
        <p:grpSpPr>
          <a:xfrm rot="0">
            <a:off x="7980508" y="2584731"/>
            <a:ext cx="2558769" cy="255876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994A0"/>
            </a:solidFill>
          </p:spPr>
        </p:sp>
        <p:sp>
          <p:nvSpPr>
            <p:cNvPr name="TextBox 7" id="7"/>
            <p:cNvSpPr txBox="true"/>
            <p:nvPr/>
          </p:nvSpPr>
          <p:spPr>
            <a:xfrm>
              <a:off x="76200" y="-171450"/>
              <a:ext cx="660400" cy="908050"/>
            </a:xfrm>
            <a:prstGeom prst="rect">
              <a:avLst/>
            </a:prstGeom>
          </p:spPr>
          <p:txBody>
            <a:bodyPr anchor="ctr" rtlCol="false" tIns="50800" lIns="50800" bIns="50800" rIns="50800"/>
            <a:lstStyle/>
            <a:p>
              <a:pPr algn="ctr">
                <a:lnSpc>
                  <a:spcPts val="8500"/>
                </a:lnSpc>
              </a:pPr>
              <a:r>
                <a:rPr lang="en-US" b="true" sz="5000">
                  <a:solidFill>
                    <a:srgbClr val="FFFFFF"/>
                  </a:solidFill>
                  <a:latin typeface="Quicksand Bold"/>
                  <a:ea typeface="Quicksand Bold"/>
                  <a:cs typeface="Quicksand Bold"/>
                  <a:sym typeface="Quicksand Bold"/>
                </a:rPr>
                <a:t>I</a:t>
              </a:r>
            </a:p>
          </p:txBody>
        </p:sp>
      </p:grpSp>
      <p:grpSp>
        <p:nvGrpSpPr>
          <p:cNvPr name="Group 8" id="8"/>
          <p:cNvGrpSpPr/>
          <p:nvPr/>
        </p:nvGrpSpPr>
        <p:grpSpPr>
          <a:xfrm rot="0">
            <a:off x="13387252" y="2584731"/>
            <a:ext cx="2558769" cy="2558769"/>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p:spPr>
        </p:sp>
        <p:sp>
          <p:nvSpPr>
            <p:cNvPr name="TextBox 10" id="10"/>
            <p:cNvSpPr txBox="true"/>
            <p:nvPr/>
          </p:nvSpPr>
          <p:spPr>
            <a:xfrm>
              <a:off x="76200" y="-171450"/>
              <a:ext cx="660400" cy="908050"/>
            </a:xfrm>
            <a:prstGeom prst="rect">
              <a:avLst/>
            </a:prstGeom>
          </p:spPr>
          <p:txBody>
            <a:bodyPr anchor="ctr" rtlCol="false" tIns="50800" lIns="50800" bIns="50800" rIns="50800"/>
            <a:lstStyle/>
            <a:p>
              <a:pPr algn="ctr">
                <a:lnSpc>
                  <a:spcPts val="8500"/>
                </a:lnSpc>
              </a:pPr>
              <a:r>
                <a:rPr lang="en-US" b="true" sz="5000">
                  <a:solidFill>
                    <a:srgbClr val="FFFFFF"/>
                  </a:solidFill>
                  <a:latin typeface="Quicksand Bold"/>
                  <a:ea typeface="Quicksand Bold"/>
                  <a:cs typeface="Quicksand Bold"/>
                  <a:sym typeface="Quicksand Bold"/>
                </a:rPr>
                <a:t>R</a:t>
              </a:r>
            </a:p>
          </p:txBody>
        </p:sp>
      </p:grpSp>
      <p:grpSp>
        <p:nvGrpSpPr>
          <p:cNvPr name="Group 11" id="11"/>
          <p:cNvGrpSpPr/>
          <p:nvPr/>
        </p:nvGrpSpPr>
        <p:grpSpPr>
          <a:xfrm rot="0">
            <a:off x="7980508" y="6699531"/>
            <a:ext cx="2558769" cy="255876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F4662"/>
            </a:solidFill>
          </p:spPr>
        </p:sp>
        <p:sp>
          <p:nvSpPr>
            <p:cNvPr name="TextBox 13" id="13"/>
            <p:cNvSpPr txBox="true"/>
            <p:nvPr/>
          </p:nvSpPr>
          <p:spPr>
            <a:xfrm>
              <a:off x="76200" y="-171450"/>
              <a:ext cx="660400" cy="908050"/>
            </a:xfrm>
            <a:prstGeom prst="rect">
              <a:avLst/>
            </a:prstGeom>
          </p:spPr>
          <p:txBody>
            <a:bodyPr anchor="ctr" rtlCol="false" tIns="50800" lIns="50800" bIns="50800" rIns="50800"/>
            <a:lstStyle/>
            <a:p>
              <a:pPr algn="ctr">
                <a:lnSpc>
                  <a:spcPts val="8500"/>
                </a:lnSpc>
              </a:pPr>
              <a:r>
                <a:rPr lang="en-US" b="true" sz="5000">
                  <a:solidFill>
                    <a:srgbClr val="FFFFFF"/>
                  </a:solidFill>
                  <a:latin typeface="Quicksand Bold"/>
                  <a:ea typeface="Quicksand Bold"/>
                  <a:cs typeface="Quicksand Bold"/>
                  <a:sym typeface="Quicksand Bold"/>
                </a:rPr>
                <a:t>IZ</a:t>
              </a:r>
            </a:p>
          </p:txBody>
        </p:sp>
      </p:grpSp>
      <p:sp>
        <p:nvSpPr>
          <p:cNvPr name="Freeform 14" id="14"/>
          <p:cNvSpPr/>
          <p:nvPr/>
        </p:nvSpPr>
        <p:spPr>
          <a:xfrm flipH="false" flipV="false" rot="3726244">
            <a:off x="4893806" y="1279556"/>
            <a:ext cx="3011636" cy="3254224"/>
          </a:xfrm>
          <a:custGeom>
            <a:avLst/>
            <a:gdLst/>
            <a:ahLst/>
            <a:cxnLst/>
            <a:rect r="r" b="b" t="t" l="l"/>
            <a:pathLst>
              <a:path h="3254224" w="3011636">
                <a:moveTo>
                  <a:pt x="0" y="0"/>
                </a:moveTo>
                <a:lnTo>
                  <a:pt x="3011636" y="0"/>
                </a:lnTo>
                <a:lnTo>
                  <a:pt x="3011636" y="3254224"/>
                </a:lnTo>
                <a:lnTo>
                  <a:pt x="0" y="3254224"/>
                </a:lnTo>
                <a:lnTo>
                  <a:pt x="0" y="0"/>
                </a:lnTo>
                <a:close/>
              </a:path>
            </a:pathLst>
          </a:custGeom>
          <a:blipFill>
            <a:blip r:embed="rId2"/>
            <a:stretch>
              <a:fillRect l="0" t="0" r="0" b="0"/>
            </a:stretch>
          </a:blipFill>
        </p:spPr>
      </p:sp>
      <p:sp>
        <p:nvSpPr>
          <p:cNvPr name="TextBox 15" id="15"/>
          <p:cNvSpPr txBox="true"/>
          <p:nvPr/>
        </p:nvSpPr>
        <p:spPr>
          <a:xfrm rot="0">
            <a:off x="1028700" y="599709"/>
            <a:ext cx="11537525"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SIIZR Model</a:t>
            </a:r>
          </a:p>
        </p:txBody>
      </p:sp>
      <p:sp>
        <p:nvSpPr>
          <p:cNvPr name="Freeform 16" id="16"/>
          <p:cNvSpPr/>
          <p:nvPr/>
        </p:nvSpPr>
        <p:spPr>
          <a:xfrm flipH="false" flipV="false" rot="3726244">
            <a:off x="10400646" y="1279556"/>
            <a:ext cx="3011636" cy="3254224"/>
          </a:xfrm>
          <a:custGeom>
            <a:avLst/>
            <a:gdLst/>
            <a:ahLst/>
            <a:cxnLst/>
            <a:rect r="r" b="b" t="t" l="l"/>
            <a:pathLst>
              <a:path h="3254224" w="3011636">
                <a:moveTo>
                  <a:pt x="0" y="0"/>
                </a:moveTo>
                <a:lnTo>
                  <a:pt x="3011636" y="0"/>
                </a:lnTo>
                <a:lnTo>
                  <a:pt x="3011636" y="3254224"/>
                </a:lnTo>
                <a:lnTo>
                  <a:pt x="0" y="3254224"/>
                </a:lnTo>
                <a:lnTo>
                  <a:pt x="0" y="0"/>
                </a:lnTo>
                <a:close/>
              </a:path>
            </a:pathLst>
          </a:custGeom>
          <a:blipFill>
            <a:blip r:embed="rId2"/>
            <a:stretch>
              <a:fillRect l="0" t="0" r="0" b="0"/>
            </a:stretch>
          </a:blipFill>
        </p:spPr>
      </p:sp>
      <p:sp>
        <p:nvSpPr>
          <p:cNvPr name="Freeform 17" id="17"/>
          <p:cNvSpPr/>
          <p:nvPr/>
        </p:nvSpPr>
        <p:spPr>
          <a:xfrm flipH="false" flipV="false" rot="9139326">
            <a:off x="9125674" y="4211424"/>
            <a:ext cx="3011636" cy="3254224"/>
          </a:xfrm>
          <a:custGeom>
            <a:avLst/>
            <a:gdLst/>
            <a:ahLst/>
            <a:cxnLst/>
            <a:rect r="r" b="b" t="t" l="l"/>
            <a:pathLst>
              <a:path h="3254224" w="3011636">
                <a:moveTo>
                  <a:pt x="0" y="0"/>
                </a:moveTo>
                <a:lnTo>
                  <a:pt x="3011636" y="0"/>
                </a:lnTo>
                <a:lnTo>
                  <a:pt x="3011636" y="3254224"/>
                </a:lnTo>
                <a:lnTo>
                  <a:pt x="0" y="3254224"/>
                </a:lnTo>
                <a:lnTo>
                  <a:pt x="0" y="0"/>
                </a:lnTo>
                <a:close/>
              </a:path>
            </a:pathLst>
          </a:custGeom>
          <a:blipFill>
            <a:blip r:embed="rId2"/>
            <a:stretch>
              <a:fillRect l="0" t="0" r="0" b="0"/>
            </a:stretch>
          </a:blipFill>
        </p:spPr>
      </p:sp>
      <p:sp>
        <p:nvSpPr>
          <p:cNvPr name="TextBox 18" id="18"/>
          <p:cNvSpPr txBox="true"/>
          <p:nvPr/>
        </p:nvSpPr>
        <p:spPr>
          <a:xfrm rot="0">
            <a:off x="6194167" y="2323658"/>
            <a:ext cx="410914" cy="863600"/>
          </a:xfrm>
          <a:prstGeom prst="rect">
            <a:avLst/>
          </a:prstGeom>
        </p:spPr>
        <p:txBody>
          <a:bodyPr anchor="t" rtlCol="false" tIns="0" lIns="0" bIns="0" rIns="0">
            <a:spAutoFit/>
          </a:bodyPr>
          <a:lstStyle/>
          <a:p>
            <a:pPr algn="ctr">
              <a:lnSpc>
                <a:spcPts val="7000"/>
              </a:lnSpc>
              <a:spcBef>
                <a:spcPct val="0"/>
              </a:spcBef>
            </a:pPr>
            <a:r>
              <a:rPr lang="en-US" b="true" sz="5000">
                <a:solidFill>
                  <a:srgbClr val="0F4662"/>
                </a:solidFill>
                <a:latin typeface="Quicksand Bold"/>
                <a:ea typeface="Quicksand Bold"/>
                <a:cs typeface="Quicksand Bold"/>
                <a:sym typeface="Quicksand Bold"/>
              </a:rPr>
              <a:t>α</a:t>
            </a:r>
          </a:p>
        </p:txBody>
      </p:sp>
      <p:sp>
        <p:nvSpPr>
          <p:cNvPr name="TextBox 19" id="19"/>
          <p:cNvSpPr txBox="true"/>
          <p:nvPr/>
        </p:nvSpPr>
        <p:spPr>
          <a:xfrm rot="0">
            <a:off x="11753714" y="2323658"/>
            <a:ext cx="419100" cy="863600"/>
          </a:xfrm>
          <a:prstGeom prst="rect">
            <a:avLst/>
          </a:prstGeom>
        </p:spPr>
        <p:txBody>
          <a:bodyPr anchor="t" rtlCol="false" tIns="0" lIns="0" bIns="0" rIns="0">
            <a:spAutoFit/>
          </a:bodyPr>
          <a:lstStyle/>
          <a:p>
            <a:pPr algn="ctr">
              <a:lnSpc>
                <a:spcPts val="7000"/>
              </a:lnSpc>
              <a:spcBef>
                <a:spcPct val="0"/>
              </a:spcBef>
            </a:pPr>
            <a:r>
              <a:rPr lang="en-US" b="true" sz="5000">
                <a:solidFill>
                  <a:srgbClr val="0F4662"/>
                </a:solidFill>
                <a:latin typeface="Quicksand Bold"/>
                <a:ea typeface="Quicksand Bold"/>
                <a:cs typeface="Quicksand Bold"/>
                <a:sym typeface="Quicksand Bold"/>
              </a:rPr>
              <a:t>β</a:t>
            </a:r>
          </a:p>
        </p:txBody>
      </p:sp>
      <p:sp>
        <p:nvSpPr>
          <p:cNvPr name="TextBox 20" id="20"/>
          <p:cNvSpPr txBox="true"/>
          <p:nvPr/>
        </p:nvSpPr>
        <p:spPr>
          <a:xfrm rot="0">
            <a:off x="10631492" y="5354349"/>
            <a:ext cx="360759" cy="863600"/>
          </a:xfrm>
          <a:prstGeom prst="rect">
            <a:avLst/>
          </a:prstGeom>
        </p:spPr>
        <p:txBody>
          <a:bodyPr anchor="t" rtlCol="false" tIns="0" lIns="0" bIns="0" rIns="0">
            <a:spAutoFit/>
          </a:bodyPr>
          <a:lstStyle/>
          <a:p>
            <a:pPr algn="ctr">
              <a:lnSpc>
                <a:spcPts val="7000"/>
              </a:lnSpc>
              <a:spcBef>
                <a:spcPct val="0"/>
              </a:spcBef>
            </a:pPr>
            <a:r>
              <a:rPr lang="en-US" b="true" sz="5000">
                <a:solidFill>
                  <a:srgbClr val="0F4662"/>
                </a:solidFill>
                <a:latin typeface="Quicksand Bold"/>
                <a:ea typeface="Quicksand Bold"/>
                <a:cs typeface="Quicksand Bold"/>
                <a:sym typeface="Quicksand Bold"/>
              </a:rPr>
              <a:t>γ</a:t>
            </a:r>
          </a:p>
        </p:txBody>
      </p:sp>
      <p:sp>
        <p:nvSpPr>
          <p:cNvPr name="TextBox 21" id="21"/>
          <p:cNvSpPr txBox="true"/>
          <p:nvPr/>
        </p:nvSpPr>
        <p:spPr>
          <a:xfrm rot="0">
            <a:off x="4881014" y="1801371"/>
            <a:ext cx="251520" cy="1006475"/>
          </a:xfrm>
          <a:prstGeom prst="rect">
            <a:avLst/>
          </a:prstGeom>
        </p:spPr>
        <p:txBody>
          <a:bodyPr anchor="t" rtlCol="false" tIns="0" lIns="0" bIns="0" rIns="0">
            <a:spAutoFit/>
          </a:bodyPr>
          <a:lstStyle/>
          <a:p>
            <a:pPr algn="ctr">
              <a:lnSpc>
                <a:spcPts val="8500"/>
              </a:lnSpc>
              <a:spcBef>
                <a:spcPct val="0"/>
              </a:spcBef>
            </a:pPr>
            <a:r>
              <a:rPr lang="en-US" b="true" sz="5000">
                <a:solidFill>
                  <a:srgbClr val="FF0000"/>
                </a:solidFill>
                <a:latin typeface="Quicksand Bold"/>
                <a:ea typeface="Quicksand Bold"/>
                <a:cs typeface="Quicksand Bold"/>
                <a:sym typeface="Quicksand Bold"/>
              </a:rPr>
              <a:t>-</a:t>
            </a:r>
          </a:p>
        </p:txBody>
      </p:sp>
      <p:sp>
        <p:nvSpPr>
          <p:cNvPr name="TextBox 22" id="22"/>
          <p:cNvSpPr txBox="true"/>
          <p:nvPr/>
        </p:nvSpPr>
        <p:spPr>
          <a:xfrm rot="0">
            <a:off x="10413517" y="1801371"/>
            <a:ext cx="251520" cy="1006475"/>
          </a:xfrm>
          <a:prstGeom prst="rect">
            <a:avLst/>
          </a:prstGeom>
        </p:spPr>
        <p:txBody>
          <a:bodyPr anchor="t" rtlCol="false" tIns="0" lIns="0" bIns="0" rIns="0">
            <a:spAutoFit/>
          </a:bodyPr>
          <a:lstStyle/>
          <a:p>
            <a:pPr algn="ctr">
              <a:lnSpc>
                <a:spcPts val="8500"/>
              </a:lnSpc>
              <a:spcBef>
                <a:spcPct val="0"/>
              </a:spcBef>
            </a:pPr>
            <a:r>
              <a:rPr lang="en-US" b="true" sz="5000">
                <a:solidFill>
                  <a:srgbClr val="FF0000"/>
                </a:solidFill>
                <a:latin typeface="Quicksand Bold"/>
                <a:ea typeface="Quicksand Bold"/>
                <a:cs typeface="Quicksand Bold"/>
                <a:sym typeface="Quicksand Bold"/>
              </a:rPr>
              <a:t>-</a:t>
            </a:r>
          </a:p>
        </p:txBody>
      </p:sp>
      <p:sp>
        <p:nvSpPr>
          <p:cNvPr name="TextBox 23" id="23"/>
          <p:cNvSpPr txBox="true"/>
          <p:nvPr/>
        </p:nvSpPr>
        <p:spPr>
          <a:xfrm rot="0">
            <a:off x="10992251" y="3992306"/>
            <a:ext cx="251520" cy="1006475"/>
          </a:xfrm>
          <a:prstGeom prst="rect">
            <a:avLst/>
          </a:prstGeom>
        </p:spPr>
        <p:txBody>
          <a:bodyPr anchor="t" rtlCol="false" tIns="0" lIns="0" bIns="0" rIns="0">
            <a:spAutoFit/>
          </a:bodyPr>
          <a:lstStyle/>
          <a:p>
            <a:pPr algn="ctr">
              <a:lnSpc>
                <a:spcPts val="8500"/>
              </a:lnSpc>
              <a:spcBef>
                <a:spcPct val="0"/>
              </a:spcBef>
            </a:pPr>
            <a:r>
              <a:rPr lang="en-US" b="true" sz="5000">
                <a:solidFill>
                  <a:srgbClr val="FF0000"/>
                </a:solidFill>
                <a:latin typeface="Quicksand Bold"/>
                <a:ea typeface="Quicksand Bold"/>
                <a:cs typeface="Quicksand Bold"/>
                <a:sym typeface="Quicksand Bold"/>
              </a:rPr>
              <a:t>-</a:t>
            </a:r>
          </a:p>
        </p:txBody>
      </p:sp>
      <p:sp>
        <p:nvSpPr>
          <p:cNvPr name="TextBox 24" id="24"/>
          <p:cNvSpPr txBox="true"/>
          <p:nvPr/>
        </p:nvSpPr>
        <p:spPr>
          <a:xfrm rot="0">
            <a:off x="7589520" y="1801371"/>
            <a:ext cx="367010" cy="1006475"/>
          </a:xfrm>
          <a:prstGeom prst="rect">
            <a:avLst/>
          </a:prstGeom>
        </p:spPr>
        <p:txBody>
          <a:bodyPr anchor="t" rtlCol="false" tIns="0" lIns="0" bIns="0" rIns="0">
            <a:spAutoFit/>
          </a:bodyPr>
          <a:lstStyle/>
          <a:p>
            <a:pPr algn="ctr">
              <a:lnSpc>
                <a:spcPts val="8500"/>
              </a:lnSpc>
              <a:spcBef>
                <a:spcPct val="0"/>
              </a:spcBef>
            </a:pPr>
            <a:r>
              <a:rPr lang="en-US" b="true" sz="5000">
                <a:solidFill>
                  <a:srgbClr val="7ED957"/>
                </a:solidFill>
                <a:latin typeface="Quicksand Bold"/>
                <a:ea typeface="Quicksand Bold"/>
                <a:cs typeface="Quicksand Bold"/>
                <a:sym typeface="Quicksand Bold"/>
              </a:rPr>
              <a:t>+</a:t>
            </a:r>
          </a:p>
        </p:txBody>
      </p:sp>
      <p:sp>
        <p:nvSpPr>
          <p:cNvPr name="TextBox 25" id="25"/>
          <p:cNvSpPr txBox="true"/>
          <p:nvPr/>
        </p:nvSpPr>
        <p:spPr>
          <a:xfrm rot="0">
            <a:off x="13020242" y="1801371"/>
            <a:ext cx="367010" cy="1006475"/>
          </a:xfrm>
          <a:prstGeom prst="rect">
            <a:avLst/>
          </a:prstGeom>
        </p:spPr>
        <p:txBody>
          <a:bodyPr anchor="t" rtlCol="false" tIns="0" lIns="0" bIns="0" rIns="0">
            <a:spAutoFit/>
          </a:bodyPr>
          <a:lstStyle/>
          <a:p>
            <a:pPr algn="ctr">
              <a:lnSpc>
                <a:spcPts val="8500"/>
              </a:lnSpc>
              <a:spcBef>
                <a:spcPct val="0"/>
              </a:spcBef>
            </a:pPr>
            <a:r>
              <a:rPr lang="en-US" b="true" sz="5000">
                <a:solidFill>
                  <a:srgbClr val="7ED957"/>
                </a:solidFill>
                <a:latin typeface="Quicksand Bold"/>
                <a:ea typeface="Quicksand Bold"/>
                <a:cs typeface="Quicksand Bold"/>
                <a:sym typeface="Quicksand Bold"/>
              </a:rPr>
              <a:t>+</a:t>
            </a:r>
          </a:p>
        </p:txBody>
      </p:sp>
      <p:sp>
        <p:nvSpPr>
          <p:cNvPr name="TextBox 26" id="26"/>
          <p:cNvSpPr txBox="true"/>
          <p:nvPr/>
        </p:nvSpPr>
        <p:spPr>
          <a:xfrm rot="0">
            <a:off x="10992251" y="6565460"/>
            <a:ext cx="367010" cy="1006475"/>
          </a:xfrm>
          <a:prstGeom prst="rect">
            <a:avLst/>
          </a:prstGeom>
        </p:spPr>
        <p:txBody>
          <a:bodyPr anchor="t" rtlCol="false" tIns="0" lIns="0" bIns="0" rIns="0">
            <a:spAutoFit/>
          </a:bodyPr>
          <a:lstStyle/>
          <a:p>
            <a:pPr algn="ctr">
              <a:lnSpc>
                <a:spcPts val="8500"/>
              </a:lnSpc>
              <a:spcBef>
                <a:spcPct val="0"/>
              </a:spcBef>
            </a:pPr>
            <a:r>
              <a:rPr lang="en-US" b="true" sz="5000">
                <a:solidFill>
                  <a:srgbClr val="7ED957"/>
                </a:solidFill>
                <a:latin typeface="Quicksand Bold"/>
                <a:ea typeface="Quicksand Bold"/>
                <a:cs typeface="Quicksand Bold"/>
                <a:sym typeface="Quicksand Bold"/>
              </a:rPr>
              <a: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5556563" y="0"/>
            <a:ext cx="2731437" cy="10287000"/>
            <a:chOff x="0" y="0"/>
            <a:chExt cx="719391" cy="2709333"/>
          </a:xfrm>
        </p:grpSpPr>
        <p:sp>
          <p:nvSpPr>
            <p:cNvPr name="Freeform 3" id="3"/>
            <p:cNvSpPr/>
            <p:nvPr/>
          </p:nvSpPr>
          <p:spPr>
            <a:xfrm flipH="false" flipV="false" rot="0">
              <a:off x="0" y="0"/>
              <a:ext cx="719391" cy="2709333"/>
            </a:xfrm>
            <a:custGeom>
              <a:avLst/>
              <a:gdLst/>
              <a:ahLst/>
              <a:cxnLst/>
              <a:rect r="r" b="b" t="t" l="l"/>
              <a:pathLst>
                <a:path h="2709333" w="719391">
                  <a:moveTo>
                    <a:pt x="0" y="0"/>
                  </a:moveTo>
                  <a:lnTo>
                    <a:pt x="719391" y="0"/>
                  </a:lnTo>
                  <a:lnTo>
                    <a:pt x="719391" y="2709333"/>
                  </a:lnTo>
                  <a:lnTo>
                    <a:pt x="0" y="2709333"/>
                  </a:lnTo>
                  <a:close/>
                </a:path>
              </a:pathLst>
            </a:custGeom>
            <a:solidFill>
              <a:srgbClr val="DBE5EA"/>
            </a:solidFill>
          </p:spPr>
        </p:sp>
        <p:sp>
          <p:nvSpPr>
            <p:cNvPr name="TextBox 4" id="4"/>
            <p:cNvSpPr txBox="true"/>
            <p:nvPr/>
          </p:nvSpPr>
          <p:spPr>
            <a:xfrm>
              <a:off x="0" y="-123825"/>
              <a:ext cx="719391" cy="2833158"/>
            </a:xfrm>
            <a:prstGeom prst="rect">
              <a:avLst/>
            </a:prstGeom>
          </p:spPr>
          <p:txBody>
            <a:bodyPr anchor="ctr" rtlCol="false" tIns="50800" lIns="50800" bIns="50800" rIns="50800"/>
            <a:lstStyle/>
            <a:p>
              <a:pPr algn="ctr">
                <a:lnSpc>
                  <a:spcPts val="4079"/>
                </a:lnSpc>
              </a:pPr>
            </a:p>
          </p:txBody>
        </p:sp>
      </p:grpSp>
      <p:sp>
        <p:nvSpPr>
          <p:cNvPr name="TextBox 5" id="5"/>
          <p:cNvSpPr txBox="true"/>
          <p:nvPr/>
        </p:nvSpPr>
        <p:spPr>
          <a:xfrm rot="0">
            <a:off x="1028700" y="599709"/>
            <a:ext cx="9480749"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SIIZR Model Equations</a:t>
            </a:r>
          </a:p>
        </p:txBody>
      </p:sp>
      <p:sp>
        <p:nvSpPr>
          <p:cNvPr name="AutoShape 6" id="6"/>
          <p:cNvSpPr/>
          <p:nvPr/>
        </p:nvSpPr>
        <p:spPr>
          <a:xfrm>
            <a:off x="1028700" y="9741523"/>
            <a:ext cx="6492240" cy="0"/>
          </a:xfrm>
          <a:prstGeom prst="line">
            <a:avLst/>
          </a:prstGeom>
          <a:ln cap="flat" w="76200">
            <a:solidFill>
              <a:srgbClr val="0F4662"/>
            </a:solidFill>
            <a:prstDash val="solid"/>
            <a:headEnd type="none" len="sm" w="sm"/>
            <a:tailEnd type="none" len="sm" w="sm"/>
          </a:ln>
        </p:spPr>
      </p:sp>
      <p:sp>
        <p:nvSpPr>
          <p:cNvPr name="AutoShape 7" id="7"/>
          <p:cNvSpPr/>
          <p:nvPr/>
        </p:nvSpPr>
        <p:spPr>
          <a:xfrm>
            <a:off x="10767060" y="1028700"/>
            <a:ext cx="6492240" cy="0"/>
          </a:xfrm>
          <a:prstGeom prst="line">
            <a:avLst/>
          </a:prstGeom>
          <a:ln cap="flat" w="76200">
            <a:solidFill>
              <a:srgbClr val="0F4662"/>
            </a:solidFill>
            <a:prstDash val="solid"/>
            <a:headEnd type="none" len="sm" w="sm"/>
            <a:tailEnd type="none" len="sm" w="sm"/>
          </a:ln>
        </p:spPr>
      </p:sp>
      <p:sp>
        <p:nvSpPr>
          <p:cNvPr name="TextBox 8" id="8"/>
          <p:cNvSpPr txBox="true"/>
          <p:nvPr/>
        </p:nvSpPr>
        <p:spPr>
          <a:xfrm rot="0">
            <a:off x="1028700" y="2384235"/>
            <a:ext cx="16749579" cy="6334126"/>
          </a:xfrm>
          <a:prstGeom prst="rect">
            <a:avLst/>
          </a:prstGeom>
        </p:spPr>
        <p:txBody>
          <a:bodyPr anchor="t" rtlCol="false" tIns="0" lIns="0" bIns="0" rIns="0">
            <a:spAutoFit/>
          </a:bodyPr>
          <a:lstStyle/>
          <a:p>
            <a:pPr algn="just">
              <a:lnSpc>
                <a:spcPts val="10199"/>
              </a:lnSpc>
            </a:pPr>
            <a:r>
              <a:rPr lang="en-US" sz="5999" b="true">
                <a:solidFill>
                  <a:srgbClr val="0F4662"/>
                </a:solidFill>
                <a:latin typeface="Quicksand Bold"/>
                <a:ea typeface="Quicksand Bold"/>
                <a:cs typeface="Quicksand Bold"/>
                <a:sym typeface="Quicksand Bold"/>
              </a:rPr>
              <a:t>Sₙ = Sₙ₋₁ </a:t>
            </a:r>
            <a:r>
              <a:rPr lang="en-US" sz="5999" b="true">
                <a:solidFill>
                  <a:srgbClr val="FF0000"/>
                </a:solidFill>
                <a:latin typeface="Quicksand Bold"/>
                <a:ea typeface="Quicksand Bold"/>
                <a:cs typeface="Quicksand Bold"/>
                <a:sym typeface="Quicksand Bold"/>
              </a:rPr>
              <a:t>- (Sₙ₋₁ × α)</a:t>
            </a:r>
          </a:p>
          <a:p>
            <a:pPr algn="just">
              <a:lnSpc>
                <a:spcPts val="10199"/>
              </a:lnSpc>
            </a:pPr>
            <a:r>
              <a:rPr lang="en-US" sz="5999" b="true">
                <a:solidFill>
                  <a:srgbClr val="0F4662"/>
                </a:solidFill>
                <a:latin typeface="Quicksand Bold"/>
                <a:ea typeface="Quicksand Bold"/>
                <a:cs typeface="Quicksand Bold"/>
                <a:sym typeface="Quicksand Bold"/>
              </a:rPr>
              <a:t>Iₙ = Iₙ₋₁ </a:t>
            </a:r>
            <a:r>
              <a:rPr lang="en-US" sz="5999" b="true">
                <a:solidFill>
                  <a:srgbClr val="FF0000"/>
                </a:solidFill>
                <a:latin typeface="Quicksand Bold"/>
                <a:ea typeface="Quicksand Bold"/>
                <a:cs typeface="Quicksand Bold"/>
                <a:sym typeface="Quicksand Bold"/>
              </a:rPr>
              <a:t>+ (Sₙ₋₁ × α)</a:t>
            </a:r>
            <a:r>
              <a:rPr lang="en-US" sz="5999" b="true">
                <a:solidFill>
                  <a:srgbClr val="0F4662"/>
                </a:solidFill>
                <a:latin typeface="Quicksand Bold"/>
                <a:ea typeface="Quicksand Bold"/>
                <a:cs typeface="Quicksand Bold"/>
                <a:sym typeface="Quicksand Bold"/>
              </a:rPr>
              <a:t> </a:t>
            </a:r>
            <a:r>
              <a:rPr lang="en-US" sz="5999" b="true">
                <a:solidFill>
                  <a:srgbClr val="0CC0DF"/>
                </a:solidFill>
                <a:latin typeface="Quicksand Bold"/>
                <a:ea typeface="Quicksand Bold"/>
                <a:cs typeface="Quicksand Bold"/>
                <a:sym typeface="Quicksand Bold"/>
              </a:rPr>
              <a:t>- (Iₙ₋₁ × β)</a:t>
            </a:r>
            <a:r>
              <a:rPr lang="en-US" sz="5999" b="true">
                <a:solidFill>
                  <a:srgbClr val="0F4662"/>
                </a:solidFill>
                <a:latin typeface="Quicksand Bold"/>
                <a:ea typeface="Quicksand Bold"/>
                <a:cs typeface="Quicksand Bold"/>
                <a:sym typeface="Quicksand Bold"/>
              </a:rPr>
              <a:t> </a:t>
            </a:r>
            <a:r>
              <a:rPr lang="en-US" sz="5999" b="true">
                <a:solidFill>
                  <a:srgbClr val="00BF63"/>
                </a:solidFill>
                <a:latin typeface="Quicksand Bold"/>
                <a:ea typeface="Quicksand Bold"/>
                <a:cs typeface="Quicksand Bold"/>
                <a:sym typeface="Quicksand Bold"/>
              </a:rPr>
              <a:t>- (Iₙ₋₁ × γ)</a:t>
            </a:r>
          </a:p>
          <a:p>
            <a:pPr algn="just">
              <a:lnSpc>
                <a:spcPts val="10199"/>
              </a:lnSpc>
            </a:pPr>
            <a:r>
              <a:rPr lang="en-US" sz="5999" b="true">
                <a:solidFill>
                  <a:srgbClr val="0F4662"/>
                </a:solidFill>
                <a:latin typeface="Quicksand Bold"/>
                <a:ea typeface="Quicksand Bold"/>
                <a:cs typeface="Quicksand Bold"/>
                <a:sym typeface="Quicksand Bold"/>
              </a:rPr>
              <a:t>Rₙ = Rₙ₋₁ </a:t>
            </a:r>
            <a:r>
              <a:rPr lang="en-US" sz="5999" b="true">
                <a:solidFill>
                  <a:srgbClr val="0CC0DF"/>
                </a:solidFill>
                <a:latin typeface="Quicksand Bold"/>
                <a:ea typeface="Quicksand Bold"/>
                <a:cs typeface="Quicksand Bold"/>
                <a:sym typeface="Quicksand Bold"/>
              </a:rPr>
              <a:t>+ (Iₙ₋₁ * β)</a:t>
            </a:r>
          </a:p>
          <a:p>
            <a:pPr algn="just">
              <a:lnSpc>
                <a:spcPts val="10199"/>
              </a:lnSpc>
            </a:pPr>
            <a:r>
              <a:rPr lang="en-US" sz="5999" b="true">
                <a:solidFill>
                  <a:srgbClr val="0F4662"/>
                </a:solidFill>
                <a:latin typeface="Quicksand Bold"/>
                <a:ea typeface="Quicksand Bold"/>
                <a:cs typeface="Quicksand Bold"/>
                <a:sym typeface="Quicksand Bold"/>
              </a:rPr>
              <a:t>IZₙ = IZₙ₋₁ </a:t>
            </a:r>
            <a:r>
              <a:rPr lang="en-US" sz="5999" b="true">
                <a:solidFill>
                  <a:srgbClr val="00BF63"/>
                </a:solidFill>
                <a:latin typeface="Quicksand Bold"/>
                <a:ea typeface="Quicksand Bold"/>
                <a:cs typeface="Quicksand Bold"/>
                <a:sym typeface="Quicksand Bold"/>
              </a:rPr>
              <a:t>+ (Iₙ₋₁ * γ)</a:t>
            </a:r>
          </a:p>
          <a:p>
            <a:pPr algn="just">
              <a:lnSpc>
                <a:spcPts val="10199"/>
              </a:lnSpc>
              <a:spcBef>
                <a:spcPct val="0"/>
              </a:spcBef>
            </a:pPr>
          </a:p>
        </p:txBody>
      </p:sp>
      <p:sp>
        <p:nvSpPr>
          <p:cNvPr name="Freeform 9" id="9"/>
          <p:cNvSpPr/>
          <p:nvPr/>
        </p:nvSpPr>
        <p:spPr>
          <a:xfrm flipH="false" flipV="false" rot="0">
            <a:off x="12831093" y="1243307"/>
            <a:ext cx="2968854" cy="441617"/>
          </a:xfrm>
          <a:custGeom>
            <a:avLst/>
            <a:gdLst/>
            <a:ahLst/>
            <a:cxnLst/>
            <a:rect r="r" b="b" t="t" l="l"/>
            <a:pathLst>
              <a:path h="441617" w="2968854">
                <a:moveTo>
                  <a:pt x="0" y="0"/>
                </a:moveTo>
                <a:lnTo>
                  <a:pt x="2968854" y="0"/>
                </a:lnTo>
                <a:lnTo>
                  <a:pt x="2968854" y="441617"/>
                </a:lnTo>
                <a:lnTo>
                  <a:pt x="0" y="4416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2800221" y="9037492"/>
            <a:ext cx="2968854" cy="441617"/>
          </a:xfrm>
          <a:custGeom>
            <a:avLst/>
            <a:gdLst/>
            <a:ahLst/>
            <a:cxnLst/>
            <a:rect r="r" b="b" t="t" l="l"/>
            <a:pathLst>
              <a:path h="441617" w="2968854">
                <a:moveTo>
                  <a:pt x="0" y="0"/>
                </a:moveTo>
                <a:lnTo>
                  <a:pt x="2968853" y="0"/>
                </a:lnTo>
                <a:lnTo>
                  <a:pt x="2968853" y="441616"/>
                </a:lnTo>
                <a:lnTo>
                  <a:pt x="0" y="4416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148" t="0" r="-2148" b="0"/>
            </a:stretch>
          </a:blipFill>
        </p:spPr>
      </p:sp>
      <p:sp>
        <p:nvSpPr>
          <p:cNvPr name="Freeform 3" id="3"/>
          <p:cNvSpPr/>
          <p:nvPr/>
        </p:nvSpPr>
        <p:spPr>
          <a:xfrm flipH="false" flipV="false" rot="0">
            <a:off x="4501299" y="2101399"/>
            <a:ext cx="9285403" cy="6619032"/>
          </a:xfrm>
          <a:custGeom>
            <a:avLst/>
            <a:gdLst/>
            <a:ahLst/>
            <a:cxnLst/>
            <a:rect r="r" b="b" t="t" l="l"/>
            <a:pathLst>
              <a:path h="6619032" w="9285403">
                <a:moveTo>
                  <a:pt x="0" y="0"/>
                </a:moveTo>
                <a:lnTo>
                  <a:pt x="9285402" y="0"/>
                </a:lnTo>
                <a:lnTo>
                  <a:pt x="9285402" y="6619032"/>
                </a:lnTo>
                <a:lnTo>
                  <a:pt x="0" y="6619032"/>
                </a:lnTo>
                <a:lnTo>
                  <a:pt x="0" y="0"/>
                </a:lnTo>
                <a:close/>
              </a:path>
            </a:pathLst>
          </a:custGeom>
          <a:blipFill>
            <a:blip r:embed="rId3"/>
            <a:stretch>
              <a:fillRect l="0" t="0" r="0" b="0"/>
            </a:stretch>
          </a:blipFill>
        </p:spPr>
      </p:sp>
      <p:sp>
        <p:nvSpPr>
          <p:cNvPr name="TextBox 4" id="4"/>
          <p:cNvSpPr txBox="true"/>
          <p:nvPr/>
        </p:nvSpPr>
        <p:spPr>
          <a:xfrm rot="0">
            <a:off x="4696202" y="372988"/>
            <a:ext cx="8962098" cy="1508690"/>
          </a:xfrm>
          <a:prstGeom prst="rect">
            <a:avLst/>
          </a:prstGeom>
        </p:spPr>
        <p:txBody>
          <a:bodyPr anchor="t" rtlCol="false" tIns="0" lIns="0" bIns="0" rIns="0">
            <a:spAutoFit/>
          </a:bodyPr>
          <a:lstStyle/>
          <a:p>
            <a:pPr algn="l" marL="0" indent="0" lvl="0">
              <a:lnSpc>
                <a:spcPts val="12393"/>
              </a:lnSpc>
              <a:spcBef>
                <a:spcPct val="0"/>
              </a:spcBef>
            </a:pPr>
            <a:r>
              <a:rPr lang="en-US" b="true" sz="8852" i="true">
                <a:solidFill>
                  <a:srgbClr val="FFFFFF"/>
                </a:solidFill>
                <a:latin typeface="Cormorant Garamond Bold Italics"/>
                <a:ea typeface="Cormorant Garamond Bold Italics"/>
                <a:cs typeface="Cormorant Garamond Bold Italics"/>
                <a:sym typeface="Cormorant Garamond Bold Italics"/>
              </a:rPr>
              <a:t>Excel Implementation</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0" y="781050"/>
            <a:ext cx="18288000" cy="2082800"/>
          </a:xfrm>
          <a:prstGeom prst="rect">
            <a:avLst/>
          </a:prstGeom>
        </p:spPr>
        <p:txBody>
          <a:bodyPr anchor="t" rtlCol="false" tIns="0" lIns="0" bIns="0" rIns="0">
            <a:spAutoFit/>
          </a:bodyPr>
          <a:lstStyle/>
          <a:p>
            <a:pPr algn="ctr">
              <a:lnSpc>
                <a:spcPts val="8500"/>
              </a:lnSpc>
              <a:spcBef>
                <a:spcPct val="0"/>
              </a:spcBef>
            </a:pPr>
            <a:r>
              <a:rPr lang="en-US" b="true" sz="5000" u="sng">
                <a:solidFill>
                  <a:srgbClr val="000000"/>
                </a:solidFill>
                <a:latin typeface="Quicksand Bold"/>
                <a:ea typeface="Quicksand Bold"/>
                <a:cs typeface="Quicksand Bold"/>
                <a:sym typeface="Quicksand Bold"/>
              </a:rPr>
              <a:t>How can we reduce our SIR+ Model into the less complicated models? </a:t>
            </a:r>
          </a:p>
        </p:txBody>
      </p:sp>
      <p:sp>
        <p:nvSpPr>
          <p:cNvPr name="TextBox 3" id="3"/>
          <p:cNvSpPr txBox="true"/>
          <p:nvPr/>
        </p:nvSpPr>
        <p:spPr>
          <a:xfrm rot="0">
            <a:off x="3289720" y="5688076"/>
            <a:ext cx="11708559" cy="3809999"/>
          </a:xfrm>
          <a:prstGeom prst="rect">
            <a:avLst/>
          </a:prstGeom>
        </p:spPr>
        <p:txBody>
          <a:bodyPr anchor="t" rtlCol="false" tIns="0" lIns="0" bIns="0" rIns="0">
            <a:spAutoFit/>
          </a:bodyPr>
          <a:lstStyle/>
          <a:p>
            <a:pPr algn="l">
              <a:lnSpc>
                <a:spcPts val="7650"/>
              </a:lnSpc>
            </a:pPr>
            <a:r>
              <a:rPr lang="en-US" sz="4500" b="true">
                <a:solidFill>
                  <a:srgbClr val="0F4662"/>
                </a:solidFill>
                <a:latin typeface="Quicksand Bold"/>
                <a:ea typeface="Quicksand Bold"/>
                <a:cs typeface="Quicksand Bold"/>
                <a:sym typeface="Quicksand Bold"/>
              </a:rPr>
              <a:t>Sₙ = Sₙ₋₁ </a:t>
            </a:r>
            <a:r>
              <a:rPr lang="en-US" sz="4500" b="true">
                <a:solidFill>
                  <a:srgbClr val="FF0000"/>
                </a:solidFill>
                <a:latin typeface="Quicksand Bold"/>
                <a:ea typeface="Quicksand Bold"/>
                <a:cs typeface="Quicksand Bold"/>
                <a:sym typeface="Quicksand Bold"/>
              </a:rPr>
              <a:t>- (Sₙ₋₁ * α)</a:t>
            </a:r>
          </a:p>
          <a:p>
            <a:pPr algn="l">
              <a:lnSpc>
                <a:spcPts val="7650"/>
              </a:lnSpc>
            </a:pPr>
            <a:r>
              <a:rPr lang="en-US" sz="4500" b="true">
                <a:solidFill>
                  <a:srgbClr val="0F4662"/>
                </a:solidFill>
                <a:latin typeface="Quicksand Bold"/>
                <a:ea typeface="Quicksand Bold"/>
                <a:cs typeface="Quicksand Bold"/>
                <a:sym typeface="Quicksand Bold"/>
              </a:rPr>
              <a:t>Iₙ = Iₙ₋₁ </a:t>
            </a:r>
            <a:r>
              <a:rPr lang="en-US" sz="4500" b="true">
                <a:solidFill>
                  <a:srgbClr val="FF0000"/>
                </a:solidFill>
                <a:latin typeface="Quicksand Bold"/>
                <a:ea typeface="Quicksand Bold"/>
                <a:cs typeface="Quicksand Bold"/>
                <a:sym typeface="Quicksand Bold"/>
              </a:rPr>
              <a:t>+ (Sₙ₋₁ * α)</a:t>
            </a:r>
            <a:r>
              <a:rPr lang="en-US" sz="4500" b="true">
                <a:solidFill>
                  <a:srgbClr val="0F4662"/>
                </a:solidFill>
                <a:latin typeface="Quicksand Bold"/>
                <a:ea typeface="Quicksand Bold"/>
                <a:cs typeface="Quicksand Bold"/>
                <a:sym typeface="Quicksand Bold"/>
              </a:rPr>
              <a:t> </a:t>
            </a:r>
            <a:r>
              <a:rPr lang="en-US" sz="4500" b="true">
                <a:solidFill>
                  <a:srgbClr val="0CC0DF"/>
                </a:solidFill>
                <a:latin typeface="Quicksand Bold"/>
                <a:ea typeface="Quicksand Bold"/>
                <a:cs typeface="Quicksand Bold"/>
                <a:sym typeface="Quicksand Bold"/>
              </a:rPr>
              <a:t>- (Iₙ₋₁ * β) </a:t>
            </a:r>
            <a:r>
              <a:rPr lang="en-US" sz="4500" b="true">
                <a:solidFill>
                  <a:srgbClr val="7ED957"/>
                </a:solidFill>
                <a:latin typeface="Quicksand Bold"/>
                <a:ea typeface="Quicksand Bold"/>
                <a:cs typeface="Quicksand Bold"/>
                <a:sym typeface="Quicksand Bold"/>
              </a:rPr>
              <a:t>- (Iₙ₋₁ * 0)</a:t>
            </a:r>
          </a:p>
          <a:p>
            <a:pPr algn="l">
              <a:lnSpc>
                <a:spcPts val="7650"/>
              </a:lnSpc>
            </a:pPr>
            <a:r>
              <a:rPr lang="en-US" sz="4500" b="true">
                <a:solidFill>
                  <a:srgbClr val="0F4662"/>
                </a:solidFill>
                <a:latin typeface="Quicksand Bold"/>
                <a:ea typeface="Quicksand Bold"/>
                <a:cs typeface="Quicksand Bold"/>
                <a:sym typeface="Quicksand Bold"/>
              </a:rPr>
              <a:t>Rₙ = Rₙ₋₁ </a:t>
            </a:r>
            <a:r>
              <a:rPr lang="en-US" sz="4500" b="true">
                <a:solidFill>
                  <a:srgbClr val="0CC0DF"/>
                </a:solidFill>
                <a:latin typeface="Quicksand Bold"/>
                <a:ea typeface="Quicksand Bold"/>
                <a:cs typeface="Quicksand Bold"/>
                <a:sym typeface="Quicksand Bold"/>
              </a:rPr>
              <a:t>+ (Iₙ₋₁ * β)</a:t>
            </a:r>
          </a:p>
          <a:p>
            <a:pPr algn="l">
              <a:lnSpc>
                <a:spcPts val="7650"/>
              </a:lnSpc>
              <a:spcBef>
                <a:spcPct val="0"/>
              </a:spcBef>
            </a:pPr>
            <a:r>
              <a:rPr lang="en-US" b="true" sz="4500">
                <a:solidFill>
                  <a:srgbClr val="0F4662"/>
                </a:solidFill>
                <a:latin typeface="Quicksand Bold"/>
                <a:ea typeface="Quicksand Bold"/>
                <a:cs typeface="Quicksand Bold"/>
                <a:sym typeface="Quicksand Bold"/>
              </a:rPr>
              <a:t>IZₙ = IZₙ₋₁ </a:t>
            </a:r>
            <a:r>
              <a:rPr lang="en-US" b="true" sz="4500">
                <a:solidFill>
                  <a:srgbClr val="7ED957"/>
                </a:solidFill>
                <a:latin typeface="Quicksand Bold"/>
                <a:ea typeface="Quicksand Bold"/>
                <a:cs typeface="Quicksand Bold"/>
                <a:sym typeface="Quicksand Bold"/>
              </a:rPr>
              <a:t>+ (Iₙ₋₁ * 0)</a:t>
            </a:r>
          </a:p>
        </p:txBody>
      </p:sp>
      <p:sp>
        <p:nvSpPr>
          <p:cNvPr name="TextBox 4" id="4"/>
          <p:cNvSpPr txBox="true"/>
          <p:nvPr/>
        </p:nvSpPr>
        <p:spPr>
          <a:xfrm rot="0">
            <a:off x="2198566" y="3258016"/>
            <a:ext cx="13890869" cy="2197097"/>
          </a:xfrm>
          <a:prstGeom prst="rect">
            <a:avLst/>
          </a:prstGeom>
        </p:spPr>
        <p:txBody>
          <a:bodyPr anchor="t" rtlCol="false" tIns="0" lIns="0" bIns="0" rIns="0">
            <a:spAutoFit/>
          </a:bodyPr>
          <a:lstStyle/>
          <a:p>
            <a:pPr algn="ctr">
              <a:lnSpc>
                <a:spcPts val="5950"/>
              </a:lnSpc>
              <a:spcBef>
                <a:spcPct val="0"/>
              </a:spcBef>
            </a:pPr>
            <a:r>
              <a:rPr lang="en-US" b="true" sz="3500">
                <a:solidFill>
                  <a:srgbClr val="7994A0"/>
                </a:solidFill>
                <a:latin typeface="Quicksand Bold"/>
                <a:ea typeface="Quicksand Bold"/>
                <a:cs typeface="Quicksand Bold"/>
                <a:sym typeface="Quicksand Bold"/>
              </a:rPr>
              <a:t>By setting γ = 0, our SIR+ model naturally reduces to the original SIR model,  making it flexible enough to simulate simpler cases.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3442710" y="3369664"/>
            <a:ext cx="11402580" cy="3185722"/>
          </a:xfrm>
          <a:prstGeom prst="rect">
            <a:avLst/>
          </a:prstGeom>
        </p:spPr>
        <p:txBody>
          <a:bodyPr anchor="t" rtlCol="false" tIns="0" lIns="0" bIns="0" rIns="0">
            <a:spAutoFit/>
          </a:bodyPr>
          <a:lstStyle/>
          <a:p>
            <a:pPr algn="ctr" marL="0" indent="0" lvl="0">
              <a:lnSpc>
                <a:spcPts val="26009"/>
              </a:lnSpc>
              <a:spcBef>
                <a:spcPct val="0"/>
              </a:spcBef>
            </a:pPr>
            <a:r>
              <a:rPr lang="en-US" b="true" sz="18577" i="true">
                <a:solidFill>
                  <a:srgbClr val="0F4662"/>
                </a:solidFill>
                <a:latin typeface="Cormorant Garamond Bold Italics"/>
                <a:ea typeface="Cormorant Garamond Bold Italics"/>
                <a:cs typeface="Cormorant Garamond Bold Italics"/>
                <a:sym typeface="Cormorant Garamond Bold Italics"/>
              </a:rPr>
              <a:t>Thank you</a:t>
            </a:r>
          </a:p>
        </p:txBody>
      </p:sp>
      <p:sp>
        <p:nvSpPr>
          <p:cNvPr name="AutoShape 3" id="3"/>
          <p:cNvSpPr/>
          <p:nvPr/>
        </p:nvSpPr>
        <p:spPr>
          <a:xfrm>
            <a:off x="5897880" y="2215083"/>
            <a:ext cx="6492240" cy="0"/>
          </a:xfrm>
          <a:prstGeom prst="line">
            <a:avLst/>
          </a:prstGeom>
          <a:ln cap="flat" w="76200">
            <a:solidFill>
              <a:srgbClr val="0F4662"/>
            </a:solidFill>
            <a:prstDash val="solid"/>
            <a:headEnd type="none" len="sm" w="sm"/>
            <a:tailEnd type="none" len="sm" w="sm"/>
          </a:ln>
        </p:spPr>
      </p:sp>
      <p:sp>
        <p:nvSpPr>
          <p:cNvPr name="Freeform 4" id="4"/>
          <p:cNvSpPr/>
          <p:nvPr/>
        </p:nvSpPr>
        <p:spPr>
          <a:xfrm flipH="false" flipV="false" rot="0">
            <a:off x="8304001" y="1116666"/>
            <a:ext cx="1679997" cy="249900"/>
          </a:xfrm>
          <a:custGeom>
            <a:avLst/>
            <a:gdLst/>
            <a:ahLst/>
            <a:cxnLst/>
            <a:rect r="r" b="b" t="t" l="l"/>
            <a:pathLst>
              <a:path h="249900" w="1679997">
                <a:moveTo>
                  <a:pt x="0" y="0"/>
                </a:moveTo>
                <a:lnTo>
                  <a:pt x="1679998" y="0"/>
                </a:lnTo>
                <a:lnTo>
                  <a:pt x="1679998" y="249899"/>
                </a:lnTo>
                <a:lnTo>
                  <a:pt x="0" y="2498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5" id="5"/>
          <p:cNvSpPr/>
          <p:nvPr/>
        </p:nvSpPr>
        <p:spPr>
          <a:xfrm>
            <a:off x="5897880" y="8159883"/>
            <a:ext cx="6492240" cy="0"/>
          </a:xfrm>
          <a:prstGeom prst="line">
            <a:avLst/>
          </a:prstGeom>
          <a:ln cap="flat" w="76200">
            <a:solidFill>
              <a:srgbClr val="0F4662"/>
            </a:solidFill>
            <a:prstDash val="solid"/>
            <a:headEnd type="none" len="sm" w="sm"/>
            <a:tailEnd type="none" len="sm" w="sm"/>
          </a:ln>
        </p:spPr>
      </p:sp>
      <p:sp>
        <p:nvSpPr>
          <p:cNvPr name="Freeform 6" id="6"/>
          <p:cNvSpPr/>
          <p:nvPr/>
        </p:nvSpPr>
        <p:spPr>
          <a:xfrm flipH="false" flipV="false" rot="0">
            <a:off x="8304001" y="9008400"/>
            <a:ext cx="1679997" cy="249900"/>
          </a:xfrm>
          <a:custGeom>
            <a:avLst/>
            <a:gdLst/>
            <a:ahLst/>
            <a:cxnLst/>
            <a:rect r="r" b="b" t="t" l="l"/>
            <a:pathLst>
              <a:path h="249900" w="1679997">
                <a:moveTo>
                  <a:pt x="0" y="0"/>
                </a:moveTo>
                <a:lnTo>
                  <a:pt x="1679998" y="0"/>
                </a:lnTo>
                <a:lnTo>
                  <a:pt x="1679998"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DAGdaIttnT8</dc:identifier>
  <dcterms:modified xsi:type="dcterms:W3CDTF">2011-08-01T06:04:30Z</dcterms:modified>
  <cp:revision>1</cp:revision>
  <dc:title>Project 1: SIR+ MODEL</dc:title>
</cp:coreProperties>
</file>