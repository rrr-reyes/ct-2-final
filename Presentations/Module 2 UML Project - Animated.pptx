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3" r:id="rId5"/>
    <p:sldId id="276" r:id="rId6"/>
    <p:sldId id="277" r:id="rId7"/>
    <p:sldId id="274" r:id="rId8"/>
    <p:sldId id="260" r:id="rId9"/>
    <p:sldId id="278" r:id="rId10"/>
    <p:sldId id="271" r:id="rId11"/>
    <p:sldId id="272" r:id="rId12"/>
    <p:sldId id="261" r:id="rId13"/>
    <p:sldId id="281" r:id="rId14"/>
    <p:sldId id="282" r:id="rId15"/>
    <p:sldId id="283" r:id="rId16"/>
    <p:sldId id="262" r:id="rId17"/>
    <p:sldId id="290" r:id="rId18"/>
    <p:sldId id="284" r:id="rId19"/>
    <p:sldId id="286" r:id="rId20"/>
    <p:sldId id="287" r:id="rId21"/>
    <p:sldId id="288" r:id="rId22"/>
    <p:sldId id="289" r:id="rId23"/>
    <p:sldId id="285" r:id="rId24"/>
    <p:sldId id="263" r:id="rId25"/>
    <p:sldId id="264" r:id="rId26"/>
    <p:sldId id="265" r:id="rId27"/>
    <p:sldId id="266" r:id="rId28"/>
  </p:sldIdLst>
  <p:sldSz cx="18288000" cy="10287000"/>
  <p:notesSz cx="6858000" cy="9144000"/>
  <p:embeddedFontLst>
    <p:embeddedFont>
      <p:font typeface="Libre Baskerville" panose="02000000000000000000" pitchFamily="2" charset="0"/>
      <p:regular r:id="rId29"/>
      <p:bold r:id="rId30"/>
    </p:embeddedFont>
    <p:embeddedFont>
      <p:font typeface="Libre Baskerville Bold" panose="02000000000000000000" charset="0"/>
      <p:regular r:id="rId31"/>
    </p:embeddedFont>
    <p:embeddedFont>
      <p:font typeface="Libre Baskerville Italics" panose="020B0604020202020204" charset="0"/>
      <p:regular r:id="rId32"/>
    </p:embeddedFont>
    <p:embeddedFont>
      <p:font typeface="Yeseva One"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D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6247" autoAdjust="0"/>
  </p:normalViewPr>
  <p:slideViewPr>
    <p:cSldViewPr>
      <p:cViewPr varScale="1">
        <p:scale>
          <a:sx n="74" d="100"/>
          <a:sy n="74" d="100"/>
        </p:scale>
        <p:origin x="85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2308427" y="6729191"/>
            <a:ext cx="14160748" cy="400050"/>
          </a:xfrm>
          <a:prstGeom prst="rect">
            <a:avLst/>
          </a:prstGeom>
        </p:spPr>
        <p:txBody>
          <a:bodyPr lIns="0" tIns="0" rIns="0" bIns="0" rtlCol="0" anchor="t">
            <a:spAutoFit/>
          </a:bodyPr>
          <a:lstStyle/>
          <a:p>
            <a:pPr algn="ctr">
              <a:lnSpc>
                <a:spcPts val="3000"/>
              </a:lnSpc>
            </a:pPr>
            <a:r>
              <a:rPr lang="en-US" sz="3000" i="1">
                <a:solidFill>
                  <a:srgbClr val="000000"/>
                </a:solidFill>
                <a:latin typeface="Libre Baskerville Italics"/>
                <a:ea typeface="Libre Baskerville Italics"/>
                <a:cs typeface="Libre Baskerville Italics"/>
                <a:sym typeface="Libre Baskerville Italics"/>
              </a:rPr>
              <a:t>Present By: Tolu Adeola, Maloney Tutu, Earl Pough, and Ralph Reyes</a:t>
            </a:r>
          </a:p>
        </p:txBody>
      </p:sp>
      <p:sp>
        <p:nvSpPr>
          <p:cNvPr id="3" name="TextBox 3"/>
          <p:cNvSpPr txBox="1"/>
          <p:nvPr/>
        </p:nvSpPr>
        <p:spPr>
          <a:xfrm>
            <a:off x="0" y="1627293"/>
            <a:ext cx="17619700" cy="319531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0" tIns="0" rIns="0" bIns="0" rtlCol="0" anchor="t">
            <a:spAutoFit/>
          </a:bodyPr>
          <a:lstStyle/>
          <a:p>
            <a:pPr algn="ctr">
              <a:lnSpc>
                <a:spcPts val="12880"/>
              </a:lnSpc>
            </a:pPr>
            <a:r>
              <a:rPr lang="en-US" sz="9200" b="1" dirty="0">
                <a:solidFill>
                  <a:srgbClr val="000000"/>
                </a:solidFill>
                <a:latin typeface="Libre Baskerville Bold"/>
                <a:ea typeface="Libre Baskerville Bold"/>
                <a:cs typeface="Libre Baskerville Bold"/>
                <a:sym typeface="Libre Baskerville Bold"/>
              </a:rPr>
              <a:t>Module 2: High-Level Modeling</a:t>
            </a:r>
          </a:p>
        </p:txBody>
      </p:sp>
      <p:sp>
        <p:nvSpPr>
          <p:cNvPr id="4" name="TextBox 4"/>
          <p:cNvSpPr txBox="1"/>
          <p:nvPr/>
        </p:nvSpPr>
        <p:spPr>
          <a:xfrm>
            <a:off x="5468280" y="5592352"/>
            <a:ext cx="7351440" cy="460375"/>
          </a:xfrm>
          <a:prstGeom prst="rect">
            <a:avLst/>
          </a:prstGeom>
        </p:spPr>
        <p:txBody>
          <a:bodyPr wrap="square" lIns="0" tIns="0" rIns="0" bIns="0" rtlCol="0" anchor="t">
            <a:spAutoFit/>
          </a:bodyPr>
          <a:lstStyle/>
          <a:p>
            <a:pPr algn="ctr">
              <a:lnSpc>
                <a:spcPts val="3499"/>
              </a:lnSpc>
              <a:spcBef>
                <a:spcPct val="0"/>
              </a:spcBef>
            </a:pPr>
            <a:r>
              <a:rPr lang="en-US" sz="3499" dirty="0">
                <a:solidFill>
                  <a:srgbClr val="000000"/>
                </a:solidFill>
                <a:latin typeface="Libre Baskerville"/>
                <a:ea typeface="Libre Baskerville"/>
                <a:cs typeface="Libre Baskerville"/>
                <a:sym typeface="Libre Baskerville"/>
              </a:rPr>
              <a:t>Computational Thinking II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4895648" y="1475985"/>
            <a:ext cx="8496705" cy="120169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060"/>
              </a:lnSpc>
            </a:pPr>
            <a:r>
              <a:rPr lang="en-US" sz="9060" dirty="0">
                <a:solidFill>
                  <a:srgbClr val="000000"/>
                </a:solidFill>
                <a:latin typeface="Libre Baskerville"/>
                <a:ea typeface="Libre Baskerville"/>
                <a:cs typeface="Libre Baskerville"/>
                <a:sym typeface="Libre Baskerville"/>
              </a:rPr>
              <a:t>Overview</a:t>
            </a:r>
          </a:p>
        </p:txBody>
      </p:sp>
      <p:sp>
        <p:nvSpPr>
          <p:cNvPr id="3" name="TextBox 3"/>
          <p:cNvSpPr txBox="1"/>
          <p:nvPr/>
        </p:nvSpPr>
        <p:spPr>
          <a:xfrm>
            <a:off x="3283182" y="3244215"/>
            <a:ext cx="11721636" cy="3693795"/>
          </a:xfrm>
          <a:prstGeom prst="rect">
            <a:avLst/>
          </a:prstGeom>
        </p:spPr>
        <p:txBody>
          <a:bodyPr lIns="0" tIns="0" rIns="0" bIns="0" rtlCol="0" anchor="t">
            <a:spAutoFit/>
          </a:bodyPr>
          <a:lstStyle/>
          <a:p>
            <a:pPr algn="ctr">
              <a:lnSpc>
                <a:spcPts val="4949"/>
              </a:lnSpc>
            </a:pPr>
            <a:r>
              <a:rPr lang="en-US" sz="3299" dirty="0">
                <a:solidFill>
                  <a:srgbClr val="000000"/>
                </a:solidFill>
                <a:latin typeface="Libre Baskerville"/>
                <a:ea typeface="Libre Baskerville"/>
                <a:cs typeface="Libre Baskerville"/>
                <a:sym typeface="Libre Baskerville"/>
              </a:rPr>
              <a:t>In the previous module, we developed the SIIZR model, a variation of the SIR model, and included an additional category, Intelligent Zombie. In this current module, we will implement UML and present the Class Diagram, State Machine Diagrams, and Activity Diagram to further describe our SIIZR model. </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5878853" y="2304627"/>
            <a:ext cx="7877739" cy="6222365"/>
          </a:xfrm>
          <a:prstGeom prst="rect">
            <a:avLst/>
          </a:prstGeom>
        </p:spPr>
        <p:txBody>
          <a:bodyPr lIns="0" tIns="0" rIns="0" bIns="0" rtlCol="0" anchor="t">
            <a:spAutoFit/>
          </a:bodyPr>
          <a:lstStyle/>
          <a:p>
            <a:pPr algn="l">
              <a:lnSpc>
                <a:spcPts val="3580"/>
              </a:lnSpc>
            </a:pPr>
            <a:r>
              <a:rPr lang="en-US" sz="2000" u="sng">
                <a:solidFill>
                  <a:srgbClr val="000000"/>
                </a:solidFill>
                <a:latin typeface="Libre Baskerville"/>
                <a:ea typeface="Libre Baskerville"/>
                <a:cs typeface="Libre Baskerville"/>
                <a:sym typeface="Libre Baskerville"/>
              </a:rPr>
              <a:t>First Step: Identifying the Main Components</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Susceptible</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Infected</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Intelligent Zombie</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Removed</a:t>
            </a:r>
          </a:p>
          <a:p>
            <a:pPr algn="l">
              <a:lnSpc>
                <a:spcPts val="3580"/>
              </a:lnSpc>
            </a:pPr>
            <a:r>
              <a:rPr lang="en-US" sz="2000" u="sng">
                <a:solidFill>
                  <a:srgbClr val="000000"/>
                </a:solidFill>
                <a:latin typeface="Libre Baskerville"/>
                <a:ea typeface="Libre Baskerville"/>
                <a:cs typeface="Libre Baskerville"/>
                <a:sym typeface="Libre Baskerville"/>
              </a:rPr>
              <a:t>Second Step: Focusing on One Diagram at a Time</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We worked on each diagram as a group</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Constantly referred back to the presentation slides and given sources</a:t>
            </a:r>
          </a:p>
          <a:p>
            <a:pPr algn="l">
              <a:lnSpc>
                <a:spcPts val="3580"/>
              </a:lnSpc>
            </a:pPr>
            <a:r>
              <a:rPr lang="en-US" sz="2000" u="sng">
                <a:solidFill>
                  <a:srgbClr val="000000"/>
                </a:solidFill>
                <a:latin typeface="Libre Baskerville"/>
                <a:ea typeface="Libre Baskerville"/>
                <a:cs typeface="Libre Baskerville"/>
                <a:sym typeface="Libre Baskerville"/>
              </a:rPr>
              <a:t>Third Step: Implementing the Diagrams</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Held meetings to get feedback from every team member</a:t>
            </a:r>
          </a:p>
          <a:p>
            <a:pPr marL="863601" lvl="2" indent="-287867" algn="l">
              <a:lnSpc>
                <a:spcPts val="3580"/>
              </a:lnSpc>
              <a:buFont typeface="Arial"/>
              <a:buChar char="⚬"/>
            </a:pPr>
            <a:r>
              <a:rPr lang="en-US" sz="2000">
                <a:solidFill>
                  <a:srgbClr val="000000"/>
                </a:solidFill>
                <a:latin typeface="Libre Baskerville"/>
                <a:ea typeface="Libre Baskerville"/>
                <a:cs typeface="Libre Baskerville"/>
                <a:sym typeface="Libre Baskerville"/>
              </a:rPr>
              <a:t>Revised the diagrams iteratively to best fit our needs</a:t>
            </a:r>
          </a:p>
          <a:p>
            <a:pPr algn="l">
              <a:lnSpc>
                <a:spcPts val="3580"/>
              </a:lnSpc>
            </a:pPr>
            <a:endParaRPr lang="en-US" sz="2000">
              <a:solidFill>
                <a:srgbClr val="000000"/>
              </a:solidFill>
              <a:latin typeface="Libre Baskerville"/>
              <a:ea typeface="Libre Baskerville"/>
              <a:cs typeface="Libre Baskerville"/>
              <a:sym typeface="Libre Baskerville"/>
            </a:endParaRPr>
          </a:p>
        </p:txBody>
      </p:sp>
      <p:sp>
        <p:nvSpPr>
          <p:cNvPr id="3" name="TextBox 3"/>
          <p:cNvSpPr txBox="1"/>
          <p:nvPr/>
        </p:nvSpPr>
        <p:spPr>
          <a:xfrm>
            <a:off x="6596010" y="1133475"/>
            <a:ext cx="6738990" cy="84298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l">
              <a:lnSpc>
                <a:spcPts val="6500"/>
              </a:lnSpc>
            </a:pPr>
            <a:r>
              <a:rPr lang="en-US" sz="6500" b="1" dirty="0">
                <a:solidFill>
                  <a:srgbClr val="000000"/>
                </a:solidFill>
                <a:latin typeface="Libre Baskerville" panose="02000000000000000000" pitchFamily="2" charset="0"/>
                <a:ea typeface="Yeseva One"/>
                <a:cs typeface="Yeseva One"/>
                <a:sym typeface="Yeseva One"/>
              </a:rPr>
              <a:t>Our Approach</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E46F0AC3-BDC9-60FA-4A81-C54200374094}"/>
            </a:ext>
          </a:extLst>
        </p:cNvPr>
        <p:cNvGrpSpPr/>
        <p:nvPr/>
      </p:nvGrpSpPr>
      <p:grpSpPr>
        <a:xfrm>
          <a:off x="0" y="0"/>
          <a:ext cx="0" cy="0"/>
          <a:chOff x="0" y="0"/>
          <a:chExt cx="0" cy="0"/>
        </a:xfrm>
      </p:grpSpPr>
      <p:sp>
        <p:nvSpPr>
          <p:cNvPr id="5" name="TextBox 7">
            <a:extLst>
              <a:ext uri="{FF2B5EF4-FFF2-40B4-BE49-F238E27FC236}">
                <a16:creationId xmlns:a16="http://schemas.microsoft.com/office/drawing/2014/main" id="{6AEDF2B3-0FDB-D0C6-E4A4-187353C8DCD0}"/>
              </a:ext>
            </a:extLst>
          </p:cNvPr>
          <p:cNvSpPr txBox="1"/>
          <p:nvPr/>
        </p:nvSpPr>
        <p:spPr>
          <a:xfrm>
            <a:off x="1028700" y="2814834"/>
            <a:ext cx="5895231" cy="347980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13999"/>
              </a:lnSpc>
            </a:pPr>
            <a:r>
              <a:rPr lang="en-US" sz="9999" b="1" dirty="0">
                <a:solidFill>
                  <a:srgbClr val="000000"/>
                </a:solidFill>
                <a:latin typeface="Libre Baskerville Bold"/>
                <a:ea typeface="Libre Baskerville Bold"/>
                <a:cs typeface="Libre Baskerville Bold"/>
                <a:sym typeface="Libre Baskerville Bold"/>
              </a:rPr>
              <a:t>Class </a:t>
            </a:r>
          </a:p>
          <a:p>
            <a:pPr algn="ctr">
              <a:lnSpc>
                <a:spcPts val="13999"/>
              </a:lnSpc>
            </a:pPr>
            <a:r>
              <a:rPr lang="en-US" sz="9999" b="1" dirty="0">
                <a:solidFill>
                  <a:srgbClr val="000000"/>
                </a:solidFill>
                <a:latin typeface="Libre Baskerville Bold"/>
                <a:ea typeface="Libre Baskerville Bold"/>
                <a:cs typeface="Libre Baskerville Bold"/>
                <a:sym typeface="Libre Baskerville Bold"/>
              </a:rPr>
              <a:t>Diagram</a:t>
            </a:r>
          </a:p>
        </p:txBody>
      </p:sp>
      <p:pic>
        <p:nvPicPr>
          <p:cNvPr id="13" name="Picture 12" descr="A computer screen shot of a computer&#10;&#10;AI-generated content may be incorrect.">
            <a:extLst>
              <a:ext uri="{FF2B5EF4-FFF2-40B4-BE49-F238E27FC236}">
                <a16:creationId xmlns:a16="http://schemas.microsoft.com/office/drawing/2014/main" id="{5B1BA51F-5C7A-085C-6BEE-517E7F94C8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6861" y="-38100"/>
            <a:ext cx="9635988" cy="8420100"/>
          </a:xfrm>
          <a:prstGeom prst="rect">
            <a:avLst/>
          </a:prstGeom>
          <a:effectLst/>
        </p:spPr>
      </p:pic>
      <p:sp>
        <p:nvSpPr>
          <p:cNvPr id="14" name="Rectangle: Rounded Corners 13">
            <a:extLst>
              <a:ext uri="{FF2B5EF4-FFF2-40B4-BE49-F238E27FC236}">
                <a16:creationId xmlns:a16="http://schemas.microsoft.com/office/drawing/2014/main" id="{B14CF755-5F9A-15BA-9CC5-E317628ABB06}"/>
              </a:ext>
            </a:extLst>
          </p:cNvPr>
          <p:cNvSpPr/>
          <p:nvPr/>
        </p:nvSpPr>
        <p:spPr>
          <a:xfrm>
            <a:off x="7772400" y="2400300"/>
            <a:ext cx="9635988" cy="5981700"/>
          </a:xfrm>
          <a:prstGeom prst="roundRect">
            <a:avLst>
              <a:gd name="adj" fmla="val 0"/>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E110C088-6CFC-0B5F-FB67-27315BBD0611}"/>
              </a:ext>
            </a:extLst>
          </p:cNvPr>
          <p:cNvSpPr/>
          <p:nvPr/>
        </p:nvSpPr>
        <p:spPr>
          <a:xfrm>
            <a:off x="13639800" y="2362200"/>
            <a:ext cx="152400" cy="762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DAD5D1"/>
                </a:solidFill>
              </a:ln>
            </a:endParaRPr>
          </a:p>
        </p:txBody>
      </p:sp>
    </p:spTree>
    <p:extLst>
      <p:ext uri="{BB962C8B-B14F-4D97-AF65-F5344CB8AC3E}">
        <p14:creationId xmlns:p14="http://schemas.microsoft.com/office/powerpoint/2010/main" val="14653650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809E69F7-3B4E-38D1-79BD-F5FB6F573FFA}"/>
            </a:ext>
          </a:extLst>
        </p:cNvPr>
        <p:cNvGrpSpPr/>
        <p:nvPr/>
      </p:nvGrpSpPr>
      <p:grpSpPr>
        <a:xfrm>
          <a:off x="0" y="0"/>
          <a:ext cx="0" cy="0"/>
          <a:chOff x="0" y="0"/>
          <a:chExt cx="0" cy="0"/>
        </a:xfrm>
      </p:grpSpPr>
      <p:pic>
        <p:nvPicPr>
          <p:cNvPr id="14" name="Picture 13" descr="A computer screen shot of a computer&#10;&#10;AI-generated content may be incorrect.">
            <a:extLst>
              <a:ext uri="{FF2B5EF4-FFF2-40B4-BE49-F238E27FC236}">
                <a16:creationId xmlns:a16="http://schemas.microsoft.com/office/drawing/2014/main" id="{18A93A01-6494-85D0-B7B1-DC4F24366A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6861" y="-38100"/>
            <a:ext cx="9635988" cy="8420100"/>
          </a:xfrm>
          <a:prstGeom prst="rect">
            <a:avLst/>
          </a:prstGeom>
        </p:spPr>
      </p:pic>
      <p:sp>
        <p:nvSpPr>
          <p:cNvPr id="15" name="Rectangle: Rounded Corners 14">
            <a:extLst>
              <a:ext uri="{FF2B5EF4-FFF2-40B4-BE49-F238E27FC236}">
                <a16:creationId xmlns:a16="http://schemas.microsoft.com/office/drawing/2014/main" id="{041F2498-6EF7-5982-B51D-B2A9C057D37D}"/>
              </a:ext>
            </a:extLst>
          </p:cNvPr>
          <p:cNvSpPr/>
          <p:nvPr/>
        </p:nvSpPr>
        <p:spPr>
          <a:xfrm>
            <a:off x="7772400" y="4542034"/>
            <a:ext cx="6477000" cy="3839966"/>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7">
            <a:extLst>
              <a:ext uri="{FF2B5EF4-FFF2-40B4-BE49-F238E27FC236}">
                <a16:creationId xmlns:a16="http://schemas.microsoft.com/office/drawing/2014/main" id="{4F8522C0-89C8-A51A-3D9B-CC39928FDE57}"/>
              </a:ext>
            </a:extLst>
          </p:cNvPr>
          <p:cNvSpPr txBox="1"/>
          <p:nvPr/>
        </p:nvSpPr>
        <p:spPr>
          <a:xfrm>
            <a:off x="1028700" y="2814834"/>
            <a:ext cx="5895231" cy="347980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13999"/>
              </a:lnSpc>
            </a:pPr>
            <a:r>
              <a:rPr lang="en-US" sz="9999" b="1" dirty="0">
                <a:solidFill>
                  <a:srgbClr val="000000"/>
                </a:solidFill>
                <a:latin typeface="Libre Baskerville Bold"/>
                <a:ea typeface="Libre Baskerville Bold"/>
                <a:cs typeface="Libre Baskerville Bold"/>
                <a:sym typeface="Libre Baskerville Bold"/>
              </a:rPr>
              <a:t>Class </a:t>
            </a:r>
          </a:p>
          <a:p>
            <a:pPr algn="ctr">
              <a:lnSpc>
                <a:spcPts val="13999"/>
              </a:lnSpc>
            </a:pPr>
            <a:r>
              <a:rPr lang="en-US" sz="9999" b="1" dirty="0">
                <a:solidFill>
                  <a:srgbClr val="000000"/>
                </a:solidFill>
                <a:latin typeface="Libre Baskerville Bold"/>
                <a:ea typeface="Libre Baskerville Bold"/>
                <a:cs typeface="Libre Baskerville Bold"/>
                <a:sym typeface="Libre Baskerville Bold"/>
              </a:rPr>
              <a:t>Diagram</a:t>
            </a:r>
          </a:p>
        </p:txBody>
      </p:sp>
    </p:spTree>
    <p:extLst>
      <p:ext uri="{BB962C8B-B14F-4D97-AF65-F5344CB8AC3E}">
        <p14:creationId xmlns:p14="http://schemas.microsoft.com/office/powerpoint/2010/main" val="51163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56AD92A9-FDDE-E63A-0F43-62D57500E591}"/>
            </a:ext>
          </a:extLst>
        </p:cNvPr>
        <p:cNvGrpSpPr/>
        <p:nvPr/>
      </p:nvGrpSpPr>
      <p:grpSpPr>
        <a:xfrm>
          <a:off x="0" y="0"/>
          <a:ext cx="0" cy="0"/>
          <a:chOff x="0" y="0"/>
          <a:chExt cx="0" cy="0"/>
        </a:xfrm>
      </p:grpSpPr>
      <p:pic>
        <p:nvPicPr>
          <p:cNvPr id="6" name="Picture 5" descr="A computer screen shot of a computer&#10;&#10;AI-generated content may be incorrect.">
            <a:extLst>
              <a:ext uri="{FF2B5EF4-FFF2-40B4-BE49-F238E27FC236}">
                <a16:creationId xmlns:a16="http://schemas.microsoft.com/office/drawing/2014/main" id="{9BF40C0A-43BD-D89A-9BAE-0FE05731A8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6861" y="-38100"/>
            <a:ext cx="9635988" cy="8420100"/>
          </a:xfrm>
          <a:prstGeom prst="rect">
            <a:avLst/>
          </a:prstGeom>
        </p:spPr>
      </p:pic>
      <p:sp>
        <p:nvSpPr>
          <p:cNvPr id="8" name="TextBox 7">
            <a:extLst>
              <a:ext uri="{FF2B5EF4-FFF2-40B4-BE49-F238E27FC236}">
                <a16:creationId xmlns:a16="http://schemas.microsoft.com/office/drawing/2014/main" id="{D6144C63-2A7B-CF73-2DFC-C1D6EC5E51CE}"/>
              </a:ext>
            </a:extLst>
          </p:cNvPr>
          <p:cNvSpPr txBox="1"/>
          <p:nvPr/>
        </p:nvSpPr>
        <p:spPr>
          <a:xfrm>
            <a:off x="1028700" y="2814834"/>
            <a:ext cx="5895231" cy="347980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13999"/>
              </a:lnSpc>
            </a:pPr>
            <a:r>
              <a:rPr lang="en-US" sz="9999" b="1" dirty="0">
                <a:solidFill>
                  <a:srgbClr val="000000"/>
                </a:solidFill>
                <a:latin typeface="Libre Baskerville Bold"/>
                <a:ea typeface="Libre Baskerville Bold"/>
                <a:cs typeface="Libre Baskerville Bold"/>
                <a:sym typeface="Libre Baskerville Bold"/>
              </a:rPr>
              <a:t>Class </a:t>
            </a:r>
          </a:p>
          <a:p>
            <a:pPr algn="ctr">
              <a:lnSpc>
                <a:spcPts val="13999"/>
              </a:lnSpc>
            </a:pPr>
            <a:r>
              <a:rPr lang="en-US" sz="9999" b="1" dirty="0">
                <a:solidFill>
                  <a:srgbClr val="000000"/>
                </a:solidFill>
                <a:latin typeface="Libre Baskerville Bold"/>
                <a:ea typeface="Libre Baskerville Bold"/>
                <a:cs typeface="Libre Baskerville Bold"/>
                <a:sym typeface="Libre Baskerville Bold"/>
              </a:rPr>
              <a:t>Diagram</a:t>
            </a:r>
          </a:p>
        </p:txBody>
      </p:sp>
    </p:spTree>
    <p:extLst>
      <p:ext uri="{BB962C8B-B14F-4D97-AF65-F5344CB8AC3E}">
        <p14:creationId xmlns:p14="http://schemas.microsoft.com/office/powerpoint/2010/main" val="330680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7FA35ECB-0A96-CA65-9032-23A4F500B08D}"/>
            </a:ext>
          </a:extLst>
        </p:cNvPr>
        <p:cNvGrpSpPr/>
        <p:nvPr/>
      </p:nvGrpSpPr>
      <p:grpSpPr>
        <a:xfrm>
          <a:off x="0" y="0"/>
          <a:ext cx="0" cy="0"/>
          <a:chOff x="0" y="0"/>
          <a:chExt cx="0" cy="0"/>
        </a:xfrm>
      </p:grpSpPr>
      <p:pic>
        <p:nvPicPr>
          <p:cNvPr id="6" name="Picture 5" descr="A computer screen shot of a computer flowchart&#10;&#10;AI-generated content may be incorrect.">
            <a:extLst>
              <a:ext uri="{FF2B5EF4-FFF2-40B4-BE49-F238E27FC236}">
                <a16:creationId xmlns:a16="http://schemas.microsoft.com/office/drawing/2014/main" id="{09EC7C89-E340-5D17-8260-036892226E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6212" y="-38100"/>
            <a:ext cx="9635988" cy="10553700"/>
          </a:xfrm>
          <a:prstGeom prst="rect">
            <a:avLst/>
          </a:prstGeom>
        </p:spPr>
      </p:pic>
      <p:sp>
        <p:nvSpPr>
          <p:cNvPr id="7" name="TextBox 7">
            <a:extLst>
              <a:ext uri="{FF2B5EF4-FFF2-40B4-BE49-F238E27FC236}">
                <a16:creationId xmlns:a16="http://schemas.microsoft.com/office/drawing/2014/main" id="{4B32892C-C94C-2E4B-338D-5ABC66123486}"/>
              </a:ext>
            </a:extLst>
          </p:cNvPr>
          <p:cNvSpPr txBox="1"/>
          <p:nvPr/>
        </p:nvSpPr>
        <p:spPr>
          <a:xfrm>
            <a:off x="1028700" y="2814834"/>
            <a:ext cx="5895231" cy="347980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13999"/>
              </a:lnSpc>
            </a:pPr>
            <a:r>
              <a:rPr lang="en-US" sz="9999" b="1" dirty="0">
                <a:solidFill>
                  <a:srgbClr val="000000"/>
                </a:solidFill>
                <a:latin typeface="Libre Baskerville Bold"/>
                <a:ea typeface="Libre Baskerville Bold"/>
                <a:cs typeface="Libre Baskerville Bold"/>
                <a:sym typeface="Libre Baskerville Bold"/>
              </a:rPr>
              <a:t>Class </a:t>
            </a:r>
          </a:p>
          <a:p>
            <a:pPr algn="ctr">
              <a:lnSpc>
                <a:spcPts val="13999"/>
              </a:lnSpc>
            </a:pPr>
            <a:r>
              <a:rPr lang="en-US" sz="9999" b="1" dirty="0">
                <a:solidFill>
                  <a:srgbClr val="000000"/>
                </a:solidFill>
                <a:latin typeface="Libre Baskerville Bold"/>
                <a:ea typeface="Libre Baskerville Bold"/>
                <a:cs typeface="Libre Baskerville Bold"/>
                <a:sym typeface="Libre Baskerville Bold"/>
              </a:rPr>
              <a:t>Diagram</a:t>
            </a:r>
          </a:p>
        </p:txBody>
      </p:sp>
    </p:spTree>
    <p:extLst>
      <p:ext uri="{BB962C8B-B14F-4D97-AF65-F5344CB8AC3E}">
        <p14:creationId xmlns:p14="http://schemas.microsoft.com/office/powerpoint/2010/main" val="103186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3" name="TextBox 3"/>
          <p:cNvSpPr txBox="1"/>
          <p:nvPr/>
        </p:nvSpPr>
        <p:spPr>
          <a:xfrm>
            <a:off x="3195700" y="800100"/>
            <a:ext cx="11896599"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State Machine Diagram</a:t>
            </a:r>
          </a:p>
        </p:txBody>
      </p:sp>
      <p:pic>
        <p:nvPicPr>
          <p:cNvPr id="5" name="Picture 4" descr="A white circle with black text&#10;&#10;AI-generated content may be incorrect.">
            <a:extLst>
              <a:ext uri="{FF2B5EF4-FFF2-40B4-BE49-F238E27FC236}">
                <a16:creationId xmlns:a16="http://schemas.microsoft.com/office/drawing/2014/main" id="{C220DB85-3FB4-DE2E-346E-3D8C0B459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1911350"/>
            <a:ext cx="15430500" cy="3775341"/>
          </a:xfrm>
          <a:prstGeom prst="rect">
            <a:avLst/>
          </a:prstGeom>
        </p:spPr>
      </p:pic>
      <p:sp>
        <p:nvSpPr>
          <p:cNvPr id="6" name="Rectangle: Rounded Corners 5">
            <a:extLst>
              <a:ext uri="{FF2B5EF4-FFF2-40B4-BE49-F238E27FC236}">
                <a16:creationId xmlns:a16="http://schemas.microsoft.com/office/drawing/2014/main" id="{DCF647DD-55E3-D54F-38F5-B67259E5A4DB}"/>
              </a:ext>
            </a:extLst>
          </p:cNvPr>
          <p:cNvSpPr/>
          <p:nvPr/>
        </p:nvSpPr>
        <p:spPr>
          <a:xfrm>
            <a:off x="5410200" y="2171700"/>
            <a:ext cx="11125200" cy="3839966"/>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2F5C0CF-83B5-9348-1329-9962324B6902}"/>
              </a:ext>
            </a:extLst>
          </p:cNvPr>
          <p:cNvSpPr/>
          <p:nvPr/>
        </p:nvSpPr>
        <p:spPr>
          <a:xfrm>
            <a:off x="1460499" y="1911350"/>
            <a:ext cx="7148449" cy="14478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0475D3C5-C3E8-53B4-DCC8-B899525543C2}"/>
            </a:ext>
          </a:extLst>
        </p:cNvPr>
        <p:cNvGrpSpPr/>
        <p:nvPr/>
      </p:nvGrpSpPr>
      <p:grpSpPr>
        <a:xfrm>
          <a:off x="0" y="0"/>
          <a:ext cx="0" cy="0"/>
          <a:chOff x="0" y="0"/>
          <a:chExt cx="0" cy="0"/>
        </a:xfrm>
      </p:grpSpPr>
      <p:pic>
        <p:nvPicPr>
          <p:cNvPr id="5" name="Picture 4" descr="A white circle with black text&#10;&#10;AI-generated content may be incorrect.">
            <a:extLst>
              <a:ext uri="{FF2B5EF4-FFF2-40B4-BE49-F238E27FC236}">
                <a16:creationId xmlns:a16="http://schemas.microsoft.com/office/drawing/2014/main" id="{C917B1F6-72D6-FAB1-DE93-88E0DB2CB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1911350"/>
            <a:ext cx="15430500" cy="3775341"/>
          </a:xfrm>
          <a:prstGeom prst="rect">
            <a:avLst/>
          </a:prstGeom>
        </p:spPr>
      </p:pic>
      <p:sp>
        <p:nvSpPr>
          <p:cNvPr id="2" name="TextBox 3">
            <a:extLst>
              <a:ext uri="{FF2B5EF4-FFF2-40B4-BE49-F238E27FC236}">
                <a16:creationId xmlns:a16="http://schemas.microsoft.com/office/drawing/2014/main" id="{BDDE0D43-A834-614D-30A6-3EA7FD303F6B}"/>
              </a:ext>
            </a:extLst>
          </p:cNvPr>
          <p:cNvSpPr txBox="1"/>
          <p:nvPr/>
        </p:nvSpPr>
        <p:spPr>
          <a:xfrm>
            <a:off x="3195700" y="800100"/>
            <a:ext cx="11896599"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State Machine Diagram</a:t>
            </a:r>
          </a:p>
        </p:txBody>
      </p:sp>
    </p:spTree>
    <p:extLst>
      <p:ext uri="{BB962C8B-B14F-4D97-AF65-F5344CB8AC3E}">
        <p14:creationId xmlns:p14="http://schemas.microsoft.com/office/powerpoint/2010/main" val="939860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81C3014E-98D2-5B0B-4E94-3B32E5F8964F}"/>
            </a:ext>
          </a:extLst>
        </p:cNvPr>
        <p:cNvGrpSpPr/>
        <p:nvPr/>
      </p:nvGrpSpPr>
      <p:grpSpPr>
        <a:xfrm>
          <a:off x="0" y="0"/>
          <a:ext cx="0" cy="0"/>
          <a:chOff x="0" y="0"/>
          <a:chExt cx="0" cy="0"/>
        </a:xfrm>
      </p:grpSpPr>
      <p:pic>
        <p:nvPicPr>
          <p:cNvPr id="2" name="Picture 1" descr="A diagram of a virus&#10;&#10;AI-generated content may be incorrect.">
            <a:extLst>
              <a:ext uri="{FF2B5EF4-FFF2-40B4-BE49-F238E27FC236}">
                <a16:creationId xmlns:a16="http://schemas.microsoft.com/office/drawing/2014/main" id="{90F2829B-5B94-C1EC-A840-F568D4AE8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1911350"/>
            <a:ext cx="15430500" cy="7207031"/>
          </a:xfrm>
          <a:prstGeom prst="rect">
            <a:avLst/>
          </a:prstGeom>
        </p:spPr>
      </p:pic>
      <p:sp>
        <p:nvSpPr>
          <p:cNvPr id="6" name="TextBox 3">
            <a:extLst>
              <a:ext uri="{FF2B5EF4-FFF2-40B4-BE49-F238E27FC236}">
                <a16:creationId xmlns:a16="http://schemas.microsoft.com/office/drawing/2014/main" id="{DF33ADFB-3CBF-4BA5-DCC7-F92D50087AA2}"/>
              </a:ext>
            </a:extLst>
          </p:cNvPr>
          <p:cNvSpPr txBox="1"/>
          <p:nvPr/>
        </p:nvSpPr>
        <p:spPr>
          <a:xfrm>
            <a:off x="3195700" y="800100"/>
            <a:ext cx="11896599"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State Machine Diagram</a:t>
            </a:r>
          </a:p>
        </p:txBody>
      </p:sp>
    </p:spTree>
    <p:extLst>
      <p:ext uri="{BB962C8B-B14F-4D97-AF65-F5344CB8AC3E}">
        <p14:creationId xmlns:p14="http://schemas.microsoft.com/office/powerpoint/2010/main" val="359759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9AACC675-5E6B-0EC7-7E07-9BCC526F6AC9}"/>
            </a:ext>
          </a:extLst>
        </p:cNvPr>
        <p:cNvGrpSpPr/>
        <p:nvPr/>
      </p:nvGrpSpPr>
      <p:grpSpPr>
        <a:xfrm>
          <a:off x="0" y="0"/>
          <a:ext cx="0" cy="0"/>
          <a:chOff x="0" y="0"/>
          <a:chExt cx="0" cy="0"/>
        </a:xfrm>
      </p:grpSpPr>
      <p:pic>
        <p:nvPicPr>
          <p:cNvPr id="9" name="Picture 8" descr="A diagram of a virus&#10;&#10;AI-generated content may be incorrect.">
            <a:extLst>
              <a:ext uri="{FF2B5EF4-FFF2-40B4-BE49-F238E27FC236}">
                <a16:creationId xmlns:a16="http://schemas.microsoft.com/office/drawing/2014/main" id="{EA515C47-C627-0A82-EA33-B24DDADCDE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1911350"/>
            <a:ext cx="15430500" cy="7207031"/>
          </a:xfrm>
          <a:prstGeom prst="rect">
            <a:avLst/>
          </a:prstGeom>
        </p:spPr>
      </p:pic>
      <p:sp>
        <p:nvSpPr>
          <p:cNvPr id="10" name="TextBox 3">
            <a:extLst>
              <a:ext uri="{FF2B5EF4-FFF2-40B4-BE49-F238E27FC236}">
                <a16:creationId xmlns:a16="http://schemas.microsoft.com/office/drawing/2014/main" id="{19BBF809-FE82-5E49-E4DE-900FB88D3D9A}"/>
              </a:ext>
            </a:extLst>
          </p:cNvPr>
          <p:cNvSpPr txBox="1"/>
          <p:nvPr/>
        </p:nvSpPr>
        <p:spPr>
          <a:xfrm>
            <a:off x="3195700" y="800100"/>
            <a:ext cx="11896599"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State Machine Diagram</a:t>
            </a:r>
          </a:p>
        </p:txBody>
      </p:sp>
    </p:spTree>
    <p:extLst>
      <p:ext uri="{BB962C8B-B14F-4D97-AF65-F5344CB8AC3E}">
        <p14:creationId xmlns:p14="http://schemas.microsoft.com/office/powerpoint/2010/main" val="311121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959276" y="2078453"/>
            <a:ext cx="14369448" cy="8208547"/>
          </a:xfrm>
          <a:custGeom>
            <a:avLst/>
            <a:gdLst/>
            <a:ahLst/>
            <a:cxnLst/>
            <a:rect l="l" t="t" r="r" b="b"/>
            <a:pathLst>
              <a:path w="14369448" h="8208547">
                <a:moveTo>
                  <a:pt x="0" y="0"/>
                </a:moveTo>
                <a:lnTo>
                  <a:pt x="14369448" y="0"/>
                </a:lnTo>
                <a:lnTo>
                  <a:pt x="14369448" y="8208547"/>
                </a:lnTo>
                <a:lnTo>
                  <a:pt x="0" y="8208547"/>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937260" y="547960"/>
            <a:ext cx="16413481"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100"/>
              </a:lnSpc>
            </a:pPr>
            <a:r>
              <a:rPr lang="en-US" sz="6500" b="1" dirty="0">
                <a:solidFill>
                  <a:srgbClr val="000000"/>
                </a:solidFill>
                <a:latin typeface="Libre Baskerville Bold"/>
                <a:ea typeface="Libre Baskerville Bold"/>
                <a:cs typeface="Libre Baskerville Bold"/>
                <a:sym typeface="Libre Baskerville Bold"/>
              </a:rPr>
              <a:t>State Machine Diagram- Suspectable  </a:t>
            </a:r>
          </a:p>
        </p:txBody>
      </p:sp>
      <p:sp>
        <p:nvSpPr>
          <p:cNvPr id="4" name="Rectangle: Rounded Corners 3">
            <a:extLst>
              <a:ext uri="{FF2B5EF4-FFF2-40B4-BE49-F238E27FC236}">
                <a16:creationId xmlns:a16="http://schemas.microsoft.com/office/drawing/2014/main" id="{6D7DD105-6CB4-BF26-D31E-264A728F2442}"/>
              </a:ext>
            </a:extLst>
          </p:cNvPr>
          <p:cNvSpPr/>
          <p:nvPr/>
        </p:nvSpPr>
        <p:spPr>
          <a:xfrm>
            <a:off x="5562600" y="2342760"/>
            <a:ext cx="11125200" cy="767754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98795F1-ABEC-16E3-594A-9B4BA521B8CD}"/>
              </a:ext>
            </a:extLst>
          </p:cNvPr>
          <p:cNvSpPr/>
          <p:nvPr/>
        </p:nvSpPr>
        <p:spPr>
          <a:xfrm>
            <a:off x="1676400" y="2705100"/>
            <a:ext cx="5867400" cy="9144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868DC53-97A6-3802-A844-D10F674F0E8C}"/>
              </a:ext>
            </a:extLst>
          </p:cNvPr>
          <p:cNvSpPr/>
          <p:nvPr/>
        </p:nvSpPr>
        <p:spPr>
          <a:xfrm>
            <a:off x="3733800" y="4914900"/>
            <a:ext cx="5867400" cy="9906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F418805B-C55C-FF76-BC11-9BB4E28DC4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789814-455E-8709-5E71-FE707E8D6DB9}"/>
              </a:ext>
            </a:extLst>
          </p:cNvPr>
          <p:cNvSpPr/>
          <p:nvPr/>
        </p:nvSpPr>
        <p:spPr>
          <a:xfrm>
            <a:off x="1959276" y="2078453"/>
            <a:ext cx="14369448" cy="8208547"/>
          </a:xfrm>
          <a:custGeom>
            <a:avLst/>
            <a:gdLst/>
            <a:ahLst/>
            <a:cxnLst/>
            <a:rect l="l" t="t" r="r" b="b"/>
            <a:pathLst>
              <a:path w="14369448" h="8208547">
                <a:moveTo>
                  <a:pt x="0" y="0"/>
                </a:moveTo>
                <a:lnTo>
                  <a:pt x="14369448" y="0"/>
                </a:lnTo>
                <a:lnTo>
                  <a:pt x="14369448" y="8208547"/>
                </a:lnTo>
                <a:lnTo>
                  <a:pt x="0" y="8208547"/>
                </a:lnTo>
                <a:lnTo>
                  <a:pt x="0" y="0"/>
                </a:lnTo>
                <a:close/>
              </a:path>
            </a:pathLst>
          </a:custGeom>
          <a:blipFill>
            <a:blip r:embed="rId2"/>
            <a:stretch>
              <a:fillRect/>
            </a:stretch>
          </a:blipFill>
        </p:spPr>
        <p:txBody>
          <a:bodyPr/>
          <a:lstStyle/>
          <a:p>
            <a:endParaRPr lang="en-US"/>
          </a:p>
        </p:txBody>
      </p:sp>
      <p:sp>
        <p:nvSpPr>
          <p:cNvPr id="3" name="TextBox 3">
            <a:extLst>
              <a:ext uri="{FF2B5EF4-FFF2-40B4-BE49-F238E27FC236}">
                <a16:creationId xmlns:a16="http://schemas.microsoft.com/office/drawing/2014/main" id="{937A2607-0EC7-29D3-5F7A-233281A73DC2}"/>
              </a:ext>
            </a:extLst>
          </p:cNvPr>
          <p:cNvSpPr txBox="1"/>
          <p:nvPr/>
        </p:nvSpPr>
        <p:spPr>
          <a:xfrm>
            <a:off x="937260" y="547960"/>
            <a:ext cx="16413481"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100"/>
              </a:lnSpc>
            </a:pPr>
            <a:r>
              <a:rPr lang="en-US" sz="6500" b="1" dirty="0">
                <a:solidFill>
                  <a:srgbClr val="000000"/>
                </a:solidFill>
                <a:latin typeface="Libre Baskerville Bold"/>
                <a:ea typeface="Libre Baskerville Bold"/>
                <a:cs typeface="Libre Baskerville Bold"/>
                <a:sym typeface="Libre Baskerville Bold"/>
              </a:rPr>
              <a:t>State Machine Diagram- Suspectable  </a:t>
            </a:r>
          </a:p>
        </p:txBody>
      </p:sp>
      <p:sp>
        <p:nvSpPr>
          <p:cNvPr id="5" name="Rectangle: Rounded Corners 4">
            <a:extLst>
              <a:ext uri="{FF2B5EF4-FFF2-40B4-BE49-F238E27FC236}">
                <a16:creationId xmlns:a16="http://schemas.microsoft.com/office/drawing/2014/main" id="{43891275-8186-4058-4D45-14E25251234D}"/>
              </a:ext>
            </a:extLst>
          </p:cNvPr>
          <p:cNvSpPr/>
          <p:nvPr/>
        </p:nvSpPr>
        <p:spPr>
          <a:xfrm>
            <a:off x="9296400" y="2125076"/>
            <a:ext cx="5867400" cy="99059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4B3AFBC-5BB2-020F-85F6-C9E321EA8736}"/>
              </a:ext>
            </a:extLst>
          </p:cNvPr>
          <p:cNvSpPr/>
          <p:nvPr/>
        </p:nvSpPr>
        <p:spPr>
          <a:xfrm>
            <a:off x="3733800" y="4914900"/>
            <a:ext cx="5867400" cy="9906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B1C1C9D-85CE-A400-56B7-BF6F5FF68DC8}"/>
              </a:ext>
            </a:extLst>
          </p:cNvPr>
          <p:cNvSpPr/>
          <p:nvPr/>
        </p:nvSpPr>
        <p:spPr>
          <a:xfrm>
            <a:off x="5562600" y="2400300"/>
            <a:ext cx="5943600" cy="14496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5791E0B-3C3F-06D6-1FE0-C0446015D3A5}"/>
              </a:ext>
            </a:extLst>
          </p:cNvPr>
          <p:cNvSpPr/>
          <p:nvPr/>
        </p:nvSpPr>
        <p:spPr>
          <a:xfrm>
            <a:off x="7162800" y="4991100"/>
            <a:ext cx="5867400" cy="14496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C521D91B-4E9D-A6CA-1055-D8D2D7A659FF}"/>
              </a:ext>
            </a:extLst>
          </p:cNvPr>
          <p:cNvSpPr/>
          <p:nvPr/>
        </p:nvSpPr>
        <p:spPr>
          <a:xfrm>
            <a:off x="12496800" y="5715929"/>
            <a:ext cx="3276600" cy="4304371"/>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388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6E4736F2-797D-F1DE-7748-13BE2ABDDC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6D4628-EAC8-4220-5D93-E97304147E9D}"/>
              </a:ext>
            </a:extLst>
          </p:cNvPr>
          <p:cNvSpPr/>
          <p:nvPr/>
        </p:nvSpPr>
        <p:spPr>
          <a:xfrm>
            <a:off x="1959276" y="2078453"/>
            <a:ext cx="14369448" cy="8208547"/>
          </a:xfrm>
          <a:custGeom>
            <a:avLst/>
            <a:gdLst/>
            <a:ahLst/>
            <a:cxnLst/>
            <a:rect l="l" t="t" r="r" b="b"/>
            <a:pathLst>
              <a:path w="14369448" h="8208547">
                <a:moveTo>
                  <a:pt x="0" y="0"/>
                </a:moveTo>
                <a:lnTo>
                  <a:pt x="14369448" y="0"/>
                </a:lnTo>
                <a:lnTo>
                  <a:pt x="14369448" y="8208547"/>
                </a:lnTo>
                <a:lnTo>
                  <a:pt x="0" y="8208547"/>
                </a:lnTo>
                <a:lnTo>
                  <a:pt x="0" y="0"/>
                </a:lnTo>
                <a:close/>
              </a:path>
            </a:pathLst>
          </a:custGeom>
          <a:blipFill>
            <a:blip r:embed="rId2"/>
            <a:stretch>
              <a:fillRect/>
            </a:stretch>
          </a:blipFill>
        </p:spPr>
        <p:txBody>
          <a:bodyPr/>
          <a:lstStyle/>
          <a:p>
            <a:endParaRPr lang="en-US"/>
          </a:p>
        </p:txBody>
      </p:sp>
      <p:sp>
        <p:nvSpPr>
          <p:cNvPr id="3" name="TextBox 3">
            <a:extLst>
              <a:ext uri="{FF2B5EF4-FFF2-40B4-BE49-F238E27FC236}">
                <a16:creationId xmlns:a16="http://schemas.microsoft.com/office/drawing/2014/main" id="{D816BE5F-FF13-BAD9-CF35-7C7D07E5ACEC}"/>
              </a:ext>
            </a:extLst>
          </p:cNvPr>
          <p:cNvSpPr txBox="1"/>
          <p:nvPr/>
        </p:nvSpPr>
        <p:spPr>
          <a:xfrm>
            <a:off x="937260" y="547960"/>
            <a:ext cx="16413481"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100"/>
              </a:lnSpc>
            </a:pPr>
            <a:r>
              <a:rPr lang="en-US" sz="6500" b="1" dirty="0">
                <a:solidFill>
                  <a:srgbClr val="000000"/>
                </a:solidFill>
                <a:latin typeface="Libre Baskerville Bold"/>
                <a:ea typeface="Libre Baskerville Bold"/>
                <a:cs typeface="Libre Baskerville Bold"/>
                <a:sym typeface="Libre Baskerville Bold"/>
              </a:rPr>
              <a:t>State Machine Diagram- Suspectable  </a:t>
            </a:r>
          </a:p>
        </p:txBody>
      </p:sp>
      <p:sp>
        <p:nvSpPr>
          <p:cNvPr id="6" name="Rectangle: Rounded Corners 5">
            <a:extLst>
              <a:ext uri="{FF2B5EF4-FFF2-40B4-BE49-F238E27FC236}">
                <a16:creationId xmlns:a16="http://schemas.microsoft.com/office/drawing/2014/main" id="{8A2A60A4-4542-1903-1398-51B73D1BEC29}"/>
              </a:ext>
            </a:extLst>
          </p:cNvPr>
          <p:cNvSpPr/>
          <p:nvPr/>
        </p:nvSpPr>
        <p:spPr>
          <a:xfrm>
            <a:off x="3733800" y="4914900"/>
            <a:ext cx="5867400" cy="9906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B903D4-6D23-E1B8-C0A5-F0030B52F3EE}"/>
              </a:ext>
            </a:extLst>
          </p:cNvPr>
          <p:cNvSpPr/>
          <p:nvPr/>
        </p:nvSpPr>
        <p:spPr>
          <a:xfrm>
            <a:off x="7162800" y="4991100"/>
            <a:ext cx="5867400" cy="14496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844D586B-7631-8D41-D144-62F1A45E6DE1}"/>
              </a:ext>
            </a:extLst>
          </p:cNvPr>
          <p:cNvSpPr/>
          <p:nvPr/>
        </p:nvSpPr>
        <p:spPr>
          <a:xfrm>
            <a:off x="12496800" y="5715929"/>
            <a:ext cx="3276600" cy="4304371"/>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5879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7908EDE2-08FB-84A4-15E9-36CBC76AD53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97DF2F-9A65-A847-68E5-1EA4101C08CF}"/>
              </a:ext>
            </a:extLst>
          </p:cNvPr>
          <p:cNvSpPr/>
          <p:nvPr/>
        </p:nvSpPr>
        <p:spPr>
          <a:xfrm>
            <a:off x="1959276" y="2078453"/>
            <a:ext cx="14369448" cy="8208547"/>
          </a:xfrm>
          <a:custGeom>
            <a:avLst/>
            <a:gdLst/>
            <a:ahLst/>
            <a:cxnLst/>
            <a:rect l="l" t="t" r="r" b="b"/>
            <a:pathLst>
              <a:path w="14369448" h="8208547">
                <a:moveTo>
                  <a:pt x="0" y="0"/>
                </a:moveTo>
                <a:lnTo>
                  <a:pt x="14369448" y="0"/>
                </a:lnTo>
                <a:lnTo>
                  <a:pt x="14369448" y="8208547"/>
                </a:lnTo>
                <a:lnTo>
                  <a:pt x="0" y="8208547"/>
                </a:lnTo>
                <a:lnTo>
                  <a:pt x="0" y="0"/>
                </a:lnTo>
                <a:close/>
              </a:path>
            </a:pathLst>
          </a:custGeom>
          <a:blipFill>
            <a:blip r:embed="rId2"/>
            <a:stretch>
              <a:fillRect/>
            </a:stretch>
          </a:blipFill>
        </p:spPr>
        <p:txBody>
          <a:bodyPr/>
          <a:lstStyle/>
          <a:p>
            <a:endParaRPr lang="en-US"/>
          </a:p>
        </p:txBody>
      </p:sp>
      <p:sp>
        <p:nvSpPr>
          <p:cNvPr id="3" name="TextBox 3">
            <a:extLst>
              <a:ext uri="{FF2B5EF4-FFF2-40B4-BE49-F238E27FC236}">
                <a16:creationId xmlns:a16="http://schemas.microsoft.com/office/drawing/2014/main" id="{BAD4D251-03B9-D21B-45BC-FFB309F8E9CB}"/>
              </a:ext>
            </a:extLst>
          </p:cNvPr>
          <p:cNvSpPr txBox="1"/>
          <p:nvPr/>
        </p:nvSpPr>
        <p:spPr>
          <a:xfrm>
            <a:off x="937260" y="547960"/>
            <a:ext cx="16413481"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100"/>
              </a:lnSpc>
            </a:pPr>
            <a:r>
              <a:rPr lang="en-US" sz="6500" b="1" dirty="0">
                <a:solidFill>
                  <a:srgbClr val="000000"/>
                </a:solidFill>
                <a:latin typeface="Libre Baskerville Bold"/>
                <a:ea typeface="Libre Baskerville Bold"/>
                <a:cs typeface="Libre Baskerville Bold"/>
                <a:sym typeface="Libre Baskerville Bold"/>
              </a:rPr>
              <a:t>State Machine Diagram- Suspectable  </a:t>
            </a:r>
          </a:p>
        </p:txBody>
      </p:sp>
    </p:spTree>
    <p:extLst>
      <p:ext uri="{BB962C8B-B14F-4D97-AF65-F5344CB8AC3E}">
        <p14:creationId xmlns:p14="http://schemas.microsoft.com/office/powerpoint/2010/main" val="1455380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4" name="Rectangle: Rounded Corners 3">
            <a:extLst>
              <a:ext uri="{FF2B5EF4-FFF2-40B4-BE49-F238E27FC236}">
                <a16:creationId xmlns:a16="http://schemas.microsoft.com/office/drawing/2014/main" id="{FE3922C5-6FBF-7B66-F14E-6AA024727D3E}"/>
              </a:ext>
            </a:extLst>
          </p:cNvPr>
          <p:cNvSpPr/>
          <p:nvPr/>
        </p:nvSpPr>
        <p:spPr>
          <a:xfrm rot="21111873">
            <a:off x="8451728" y="2103257"/>
            <a:ext cx="6144330" cy="7679608"/>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20C1D3E-2021-57C0-810B-6961CCFCD9E2}"/>
              </a:ext>
            </a:extLst>
          </p:cNvPr>
          <p:cNvSpPr/>
          <p:nvPr/>
        </p:nvSpPr>
        <p:spPr>
          <a:xfrm rot="16200000">
            <a:off x="4112593" y="4112949"/>
            <a:ext cx="5067659" cy="636676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8F0B1B9-97EA-1EF4-8EAE-05B77C9788B2}"/>
              </a:ext>
            </a:extLst>
          </p:cNvPr>
          <p:cNvSpPr/>
          <p:nvPr/>
        </p:nvSpPr>
        <p:spPr>
          <a:xfrm rot="16671231">
            <a:off x="4305300" y="3352800"/>
            <a:ext cx="1447800" cy="16764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2853601-C3A5-EC72-1CED-65CA9B27FBE2}"/>
              </a:ext>
            </a:extLst>
          </p:cNvPr>
          <p:cNvSpPr/>
          <p:nvPr/>
        </p:nvSpPr>
        <p:spPr>
          <a:xfrm rot="18482930">
            <a:off x="7468934" y="2133036"/>
            <a:ext cx="1447800" cy="16764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F8968057-309C-FDCE-6FBD-4337E2324B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AF9CD2-D292-B553-3C0F-7B90E2B8A4F3}"/>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58D88927-B51A-84FD-A652-8234FFFD6CB4}"/>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4" name="Rectangle: Rounded Corners 3">
            <a:extLst>
              <a:ext uri="{FF2B5EF4-FFF2-40B4-BE49-F238E27FC236}">
                <a16:creationId xmlns:a16="http://schemas.microsoft.com/office/drawing/2014/main" id="{3CB1E97B-3EA5-7164-C2B1-C2559F88A8C3}"/>
              </a:ext>
            </a:extLst>
          </p:cNvPr>
          <p:cNvSpPr/>
          <p:nvPr/>
        </p:nvSpPr>
        <p:spPr>
          <a:xfrm rot="21111873">
            <a:off x="8639788" y="4747719"/>
            <a:ext cx="6144330" cy="5021772"/>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ABDB8FB-C4BE-B68C-ACE1-762733A55125}"/>
              </a:ext>
            </a:extLst>
          </p:cNvPr>
          <p:cNvSpPr/>
          <p:nvPr/>
        </p:nvSpPr>
        <p:spPr>
          <a:xfrm rot="16200000">
            <a:off x="4112593" y="4112949"/>
            <a:ext cx="5067659" cy="636676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7DE6BCE-EF29-FD35-B492-F468262F0F81}"/>
              </a:ext>
            </a:extLst>
          </p:cNvPr>
          <p:cNvSpPr/>
          <p:nvPr/>
        </p:nvSpPr>
        <p:spPr>
          <a:xfrm rot="16671231">
            <a:off x="4305300" y="3352800"/>
            <a:ext cx="1447800" cy="16764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841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3D17D762-DE08-ED6F-9B9D-58BE94A955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68E65F-3AEA-EC59-8ECC-C8E6707D244A}"/>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8A058330-2F3A-8008-D245-483E489F7C1D}"/>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9" name="Rectangle: Rounded Corners 8">
            <a:extLst>
              <a:ext uri="{FF2B5EF4-FFF2-40B4-BE49-F238E27FC236}">
                <a16:creationId xmlns:a16="http://schemas.microsoft.com/office/drawing/2014/main" id="{7A127494-3377-0588-838B-41A8A4277E70}"/>
              </a:ext>
            </a:extLst>
          </p:cNvPr>
          <p:cNvSpPr/>
          <p:nvPr/>
        </p:nvSpPr>
        <p:spPr>
          <a:xfrm rot="17140842">
            <a:off x="4320156" y="3003348"/>
            <a:ext cx="1447800" cy="167640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C1BD421-040C-4C51-D54D-CAB8D6527D05}"/>
              </a:ext>
            </a:extLst>
          </p:cNvPr>
          <p:cNvSpPr/>
          <p:nvPr/>
        </p:nvSpPr>
        <p:spPr>
          <a:xfrm rot="202226">
            <a:off x="4510528" y="4669708"/>
            <a:ext cx="1447800" cy="225820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E33FA8B-B17A-8CE6-4123-A63C42833CF5}"/>
              </a:ext>
            </a:extLst>
          </p:cNvPr>
          <p:cNvSpPr/>
          <p:nvPr/>
        </p:nvSpPr>
        <p:spPr>
          <a:xfrm rot="4886420">
            <a:off x="5893359" y="7579283"/>
            <a:ext cx="2554924" cy="225820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5186464-E32B-C604-C9A0-3913C3FA12B7}"/>
              </a:ext>
            </a:extLst>
          </p:cNvPr>
          <p:cNvSpPr/>
          <p:nvPr/>
        </p:nvSpPr>
        <p:spPr>
          <a:xfrm rot="16494425">
            <a:off x="8742645" y="4500195"/>
            <a:ext cx="5067659" cy="6506488"/>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74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18363161-1161-62DA-5B9C-F853FDE0BC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EC917E-25F7-8410-2A84-B60CB2AA250D}"/>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D435966E-6F24-236F-AF2E-1C5B9775B23A}"/>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8" name="Rectangle: Rounded Corners 7">
            <a:extLst>
              <a:ext uri="{FF2B5EF4-FFF2-40B4-BE49-F238E27FC236}">
                <a16:creationId xmlns:a16="http://schemas.microsoft.com/office/drawing/2014/main" id="{4C73237A-525E-3FA4-88A7-5F79B7227C74}"/>
              </a:ext>
            </a:extLst>
          </p:cNvPr>
          <p:cNvSpPr/>
          <p:nvPr/>
        </p:nvSpPr>
        <p:spPr>
          <a:xfrm rot="16494425">
            <a:off x="8711007" y="4529232"/>
            <a:ext cx="4930779" cy="6293844"/>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7CC5203-B5F9-4401-73D8-96E4457378E2}"/>
              </a:ext>
            </a:extLst>
          </p:cNvPr>
          <p:cNvSpPr/>
          <p:nvPr/>
        </p:nvSpPr>
        <p:spPr>
          <a:xfrm rot="4886420">
            <a:off x="5893359" y="7579283"/>
            <a:ext cx="2554924" cy="225820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463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C79A0407-FA30-582B-25A4-0DFCF2C06A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2803DB-0553-7AD1-E40A-9B9A72F83685}"/>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BE84E999-7679-7BBE-6E07-69019DB327C9}"/>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8" name="Rectangle: Rounded Corners 7">
            <a:extLst>
              <a:ext uri="{FF2B5EF4-FFF2-40B4-BE49-F238E27FC236}">
                <a16:creationId xmlns:a16="http://schemas.microsoft.com/office/drawing/2014/main" id="{F539DB6A-4927-AABE-71C4-1F093A594A8A}"/>
              </a:ext>
            </a:extLst>
          </p:cNvPr>
          <p:cNvSpPr/>
          <p:nvPr/>
        </p:nvSpPr>
        <p:spPr>
          <a:xfrm rot="16036440">
            <a:off x="9241282" y="4055621"/>
            <a:ext cx="4190998" cy="6366760"/>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46E74D0-9060-1A0C-1F51-A072DA4C7A85}"/>
              </a:ext>
            </a:extLst>
          </p:cNvPr>
          <p:cNvSpPr/>
          <p:nvPr/>
        </p:nvSpPr>
        <p:spPr>
          <a:xfrm rot="16676151">
            <a:off x="9835861" y="8241749"/>
            <a:ext cx="1904998" cy="16423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53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02570D25-2FE5-3136-D6CB-627C3040046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CFE623-BAFC-7A63-A6D6-1DD7ADE42B3E}"/>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614EB802-125E-A56A-E462-081BF9C90625}"/>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8" name="Rectangle: Rounded Corners 7">
            <a:extLst>
              <a:ext uri="{FF2B5EF4-FFF2-40B4-BE49-F238E27FC236}">
                <a16:creationId xmlns:a16="http://schemas.microsoft.com/office/drawing/2014/main" id="{BBBD5B23-17C1-C9AA-982A-00FCB8FC134E}"/>
              </a:ext>
            </a:extLst>
          </p:cNvPr>
          <p:cNvSpPr/>
          <p:nvPr/>
        </p:nvSpPr>
        <p:spPr>
          <a:xfrm rot="16200000">
            <a:off x="10495920" y="6229981"/>
            <a:ext cx="1514584" cy="2999221"/>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D44F882E-EA3E-0E5F-B28B-4C6F6B741370}"/>
              </a:ext>
            </a:extLst>
          </p:cNvPr>
          <p:cNvSpPr/>
          <p:nvPr/>
        </p:nvSpPr>
        <p:spPr>
          <a:xfrm rot="16200000">
            <a:off x="12816652" y="5002715"/>
            <a:ext cx="1514584" cy="3068682"/>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BDB5B79-2655-DF14-55C2-D9EABD2366C0}"/>
              </a:ext>
            </a:extLst>
          </p:cNvPr>
          <p:cNvSpPr/>
          <p:nvPr/>
        </p:nvSpPr>
        <p:spPr>
          <a:xfrm rot="16676151">
            <a:off x="9835861" y="8241749"/>
            <a:ext cx="1904998" cy="16423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87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C634306E-DE31-4E5A-BA7A-D8D111266B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9DAF71C-4B3D-6797-3AE6-D5E7E20D4D4B}"/>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55F79746-8D3C-53AB-88EE-91A7783619A9}"/>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
        <p:nvSpPr>
          <p:cNvPr id="8" name="Rectangle: Rounded Corners 7">
            <a:extLst>
              <a:ext uri="{FF2B5EF4-FFF2-40B4-BE49-F238E27FC236}">
                <a16:creationId xmlns:a16="http://schemas.microsoft.com/office/drawing/2014/main" id="{AB01F1F0-55BD-6A30-4AB6-4B1C2EE32FF5}"/>
              </a:ext>
            </a:extLst>
          </p:cNvPr>
          <p:cNvSpPr/>
          <p:nvPr/>
        </p:nvSpPr>
        <p:spPr>
          <a:xfrm rot="16200000">
            <a:off x="10495920" y="6229981"/>
            <a:ext cx="1514584" cy="2999221"/>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B8060167-C0A8-CD0D-3BD1-CBA108C416AB}"/>
              </a:ext>
            </a:extLst>
          </p:cNvPr>
          <p:cNvSpPr/>
          <p:nvPr/>
        </p:nvSpPr>
        <p:spPr>
          <a:xfrm rot="16200000">
            <a:off x="9774681" y="8260409"/>
            <a:ext cx="1904998" cy="1642359"/>
          </a:xfrm>
          <a:prstGeom prst="roundRect">
            <a:avLst/>
          </a:prstGeom>
          <a:solidFill>
            <a:srgbClr val="DAD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626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a:extLst>
            <a:ext uri="{FF2B5EF4-FFF2-40B4-BE49-F238E27FC236}">
              <a16:creationId xmlns:a16="http://schemas.microsoft.com/office/drawing/2014/main" id="{450DDD55-33C5-CA7F-9B56-FA7C187BE7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AC9DA24-FD31-BDF6-A4D3-C0396E97B171}"/>
              </a:ext>
            </a:extLst>
          </p:cNvPr>
          <p:cNvSpPr/>
          <p:nvPr/>
        </p:nvSpPr>
        <p:spPr>
          <a:xfrm>
            <a:off x="4943783" y="1568090"/>
            <a:ext cx="9379347" cy="8499549"/>
          </a:xfrm>
          <a:custGeom>
            <a:avLst/>
            <a:gdLst/>
            <a:ahLst/>
            <a:cxnLst/>
            <a:rect l="l" t="t" r="r" b="b"/>
            <a:pathLst>
              <a:path w="9379347" h="8499549">
                <a:moveTo>
                  <a:pt x="0" y="0"/>
                </a:moveTo>
                <a:lnTo>
                  <a:pt x="9379347" y="0"/>
                </a:lnTo>
                <a:lnTo>
                  <a:pt x="9379347" y="8499549"/>
                </a:lnTo>
                <a:lnTo>
                  <a:pt x="0" y="8499549"/>
                </a:lnTo>
                <a:lnTo>
                  <a:pt x="0" y="0"/>
                </a:lnTo>
                <a:close/>
              </a:path>
            </a:pathLst>
          </a:custGeom>
          <a:blipFill>
            <a:blip r:embed="rId2"/>
            <a:stretch>
              <a:fillRect l="-3828" t="-4436" r="-4020" b="-4013"/>
            </a:stretch>
          </a:blipFill>
        </p:spPr>
        <p:txBody>
          <a:bodyPr/>
          <a:lstStyle/>
          <a:p>
            <a:endParaRPr lang="en-US"/>
          </a:p>
        </p:txBody>
      </p:sp>
      <p:sp>
        <p:nvSpPr>
          <p:cNvPr id="3" name="TextBox 3">
            <a:extLst>
              <a:ext uri="{FF2B5EF4-FFF2-40B4-BE49-F238E27FC236}">
                <a16:creationId xmlns:a16="http://schemas.microsoft.com/office/drawing/2014/main" id="{0687C909-D37B-7F4E-9205-EE64E7AE2F34}"/>
              </a:ext>
            </a:extLst>
          </p:cNvPr>
          <p:cNvSpPr txBox="1"/>
          <p:nvPr/>
        </p:nvSpPr>
        <p:spPr>
          <a:xfrm>
            <a:off x="2484127" y="456840"/>
            <a:ext cx="13319745"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Infected</a:t>
            </a:r>
          </a:p>
        </p:txBody>
      </p:sp>
    </p:spTree>
    <p:extLst>
      <p:ext uri="{BB962C8B-B14F-4D97-AF65-F5344CB8AC3E}">
        <p14:creationId xmlns:p14="http://schemas.microsoft.com/office/powerpoint/2010/main" val="100688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6105267" y="1480622"/>
            <a:ext cx="6754003" cy="8806378"/>
          </a:xfrm>
          <a:custGeom>
            <a:avLst/>
            <a:gdLst/>
            <a:ahLst/>
            <a:cxnLst/>
            <a:rect l="l" t="t" r="r" b="b"/>
            <a:pathLst>
              <a:path w="6754003" h="8806378">
                <a:moveTo>
                  <a:pt x="0" y="0"/>
                </a:moveTo>
                <a:lnTo>
                  <a:pt x="6754002" y="0"/>
                </a:lnTo>
                <a:lnTo>
                  <a:pt x="6754002" y="8806378"/>
                </a:lnTo>
                <a:lnTo>
                  <a:pt x="0" y="8806378"/>
                </a:lnTo>
                <a:lnTo>
                  <a:pt x="0" y="0"/>
                </a:lnTo>
                <a:close/>
              </a:path>
            </a:pathLst>
          </a:custGeom>
          <a:blipFill>
            <a:blip r:embed="rId2"/>
            <a:stretch>
              <a:fillRect l="-1720" r="-2446" b="-1447"/>
            </a:stretch>
          </a:blipFill>
        </p:spPr>
        <p:txBody>
          <a:bodyPr/>
          <a:lstStyle/>
          <a:p>
            <a:endParaRPr lang="en-US"/>
          </a:p>
        </p:txBody>
      </p:sp>
      <p:sp>
        <p:nvSpPr>
          <p:cNvPr id="3" name="TextBox 3"/>
          <p:cNvSpPr txBox="1"/>
          <p:nvPr/>
        </p:nvSpPr>
        <p:spPr>
          <a:xfrm>
            <a:off x="461625" y="369372"/>
            <a:ext cx="17364749" cy="111125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100"/>
              </a:lnSpc>
              <a:spcBef>
                <a:spcPct val="0"/>
              </a:spcBef>
            </a:pPr>
            <a:r>
              <a:rPr lang="en-US" sz="6500" b="1" dirty="0">
                <a:solidFill>
                  <a:srgbClr val="000000"/>
                </a:solidFill>
                <a:latin typeface="Libre Baskerville Bold"/>
                <a:ea typeface="Libre Baskerville Bold"/>
                <a:cs typeface="Libre Baskerville Bold"/>
                <a:sym typeface="Libre Baskerville Bold"/>
              </a:rPr>
              <a:t>Activity Diagram - Intelligent Zombie</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3031108" y="1436773"/>
            <a:ext cx="11011168" cy="8850227"/>
          </a:xfrm>
          <a:custGeom>
            <a:avLst/>
            <a:gdLst/>
            <a:ahLst/>
            <a:cxnLst/>
            <a:rect l="l" t="t" r="r" b="b"/>
            <a:pathLst>
              <a:path w="11011168" h="8850227">
                <a:moveTo>
                  <a:pt x="0" y="0"/>
                </a:moveTo>
                <a:lnTo>
                  <a:pt x="11011168" y="0"/>
                </a:lnTo>
                <a:lnTo>
                  <a:pt x="11011168" y="8850227"/>
                </a:lnTo>
                <a:lnTo>
                  <a:pt x="0" y="8850227"/>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840706" y="288058"/>
            <a:ext cx="14606588" cy="114871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ctr">
              <a:lnSpc>
                <a:spcPts val="9555"/>
              </a:lnSpc>
            </a:pPr>
            <a:r>
              <a:rPr lang="en-US" sz="6500" b="1" dirty="0">
                <a:solidFill>
                  <a:srgbClr val="000000"/>
                </a:solidFill>
                <a:latin typeface="Libre Baskerville Bold"/>
                <a:ea typeface="Libre Baskerville Bold"/>
                <a:cs typeface="Libre Baskerville Bold"/>
                <a:sym typeface="Libre Baskerville Bold"/>
              </a:rPr>
              <a:t>Activity Diagram - Susceptible</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3785221" y="1759784"/>
            <a:ext cx="11363767" cy="121435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9060"/>
              </a:lnSpc>
            </a:pPr>
            <a:r>
              <a:rPr lang="en-US" sz="9060" dirty="0">
                <a:solidFill>
                  <a:srgbClr val="000000"/>
                </a:solidFill>
                <a:latin typeface="Yeseva One"/>
                <a:ea typeface="Yeseva One"/>
                <a:cs typeface="Yeseva One"/>
                <a:sym typeface="Yeseva One"/>
              </a:rPr>
              <a:t>Main Challenge</a:t>
            </a:r>
          </a:p>
        </p:txBody>
      </p:sp>
      <p:sp>
        <p:nvSpPr>
          <p:cNvPr id="3" name="TextBox 3"/>
          <p:cNvSpPr txBox="1"/>
          <p:nvPr/>
        </p:nvSpPr>
        <p:spPr>
          <a:xfrm>
            <a:off x="2159345" y="4570132"/>
            <a:ext cx="14230829" cy="4048865"/>
          </a:xfrm>
          <a:prstGeom prst="rect">
            <a:avLst/>
          </a:prstGeom>
        </p:spPr>
        <p:txBody>
          <a:bodyPr lIns="0" tIns="0" rIns="0" bIns="0" rtlCol="0" anchor="t">
            <a:spAutoFit/>
          </a:bodyPr>
          <a:lstStyle/>
          <a:p>
            <a:pPr algn="ctr">
              <a:lnSpc>
                <a:spcPts val="4580"/>
              </a:lnSpc>
            </a:pPr>
            <a:r>
              <a:rPr lang="en-US" sz="2000" dirty="0">
                <a:solidFill>
                  <a:srgbClr val="000000"/>
                </a:solidFill>
                <a:latin typeface="Libre Baskerville"/>
                <a:ea typeface="Libre Baskerville"/>
                <a:cs typeface="Libre Baskerville"/>
                <a:sym typeface="Libre Baskerville"/>
              </a:rPr>
              <a:t>We faced a challenge in creating Activity Diagrams for the other sub-populations beyond the Infected sub-population. Although optional, we decided to complete these diagrams as well, as we believed it would benefit us in the long run, while we are at the peak of our knowledge. This was taken to avoid the risk of forgetting important components if we had waited at the end of the semester to create the additional diagrams.</a:t>
            </a:r>
          </a:p>
          <a:p>
            <a:pPr algn="ctr">
              <a:lnSpc>
                <a:spcPts val="4580"/>
              </a:lnSpc>
            </a:pPr>
            <a:endParaRPr lang="en-US" sz="2000" dirty="0">
              <a:solidFill>
                <a:srgbClr val="000000"/>
              </a:solidFill>
              <a:latin typeface="Libre Baskerville"/>
              <a:ea typeface="Libre Baskerville"/>
              <a:cs typeface="Libre Baskerville"/>
              <a:sym typeface="Libre Baskerville"/>
            </a:endParaRPr>
          </a:p>
          <a:p>
            <a:pPr algn="ctr">
              <a:lnSpc>
                <a:spcPts val="4580"/>
              </a:lnSpc>
            </a:pPr>
            <a:endParaRPr lang="en-US" sz="2000" dirty="0">
              <a:solidFill>
                <a:srgbClr val="000000"/>
              </a:solidFill>
              <a:latin typeface="Libre Baskerville"/>
              <a:ea typeface="Libre Baskerville"/>
              <a:cs typeface="Libre Baskerville"/>
              <a:sym typeface="Libre Baskerville"/>
            </a:endParaRPr>
          </a:p>
        </p:txBody>
      </p:sp>
      <p:sp>
        <p:nvSpPr>
          <p:cNvPr id="4" name="TextBox 4"/>
          <p:cNvSpPr txBox="1"/>
          <p:nvPr/>
        </p:nvSpPr>
        <p:spPr>
          <a:xfrm>
            <a:off x="6634194" y="3779353"/>
            <a:ext cx="6977829" cy="469900"/>
          </a:xfrm>
          <a:prstGeom prst="rect">
            <a:avLst/>
          </a:prstGeom>
        </p:spPr>
        <p:txBody>
          <a:bodyPr lIns="0" tIns="0" rIns="0" bIns="0" rtlCol="0" anchor="t">
            <a:spAutoFit/>
          </a:bodyPr>
          <a:lstStyle/>
          <a:p>
            <a:pPr algn="l">
              <a:lnSpc>
                <a:spcPts val="3500"/>
              </a:lnSpc>
            </a:pPr>
            <a:r>
              <a:rPr lang="en-US" sz="3500">
                <a:solidFill>
                  <a:srgbClr val="000000"/>
                </a:solidFill>
                <a:latin typeface="Yeseva One"/>
                <a:ea typeface="Yeseva One"/>
                <a:cs typeface="Yeseva One"/>
                <a:sym typeface="Yeseva One"/>
              </a:rPr>
              <a:t>Other Activity Diagrams</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3283182" y="3632200"/>
            <a:ext cx="11721636" cy="325120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0" tIns="0" rIns="0" bIns="0" rtlCol="0" anchor="t">
            <a:spAutoFit/>
          </a:bodyPr>
          <a:lstStyle/>
          <a:p>
            <a:pPr algn="ctr">
              <a:lnSpc>
                <a:spcPts val="12500"/>
              </a:lnSpc>
            </a:pPr>
            <a:r>
              <a:rPr lang="en-US" sz="12500" dirty="0">
                <a:solidFill>
                  <a:srgbClr val="000000"/>
                </a:solidFill>
                <a:latin typeface="Yeseva One"/>
                <a:ea typeface="Yeseva One"/>
                <a:cs typeface="Yeseva One"/>
                <a:sym typeface="Yeseva One"/>
              </a:rPr>
              <a:t>Thank</a:t>
            </a:r>
          </a:p>
          <a:p>
            <a:pPr algn="ctr">
              <a:lnSpc>
                <a:spcPts val="12500"/>
              </a:lnSpc>
            </a:pPr>
            <a:r>
              <a:rPr lang="en-US" sz="12500" dirty="0">
                <a:solidFill>
                  <a:srgbClr val="000000"/>
                </a:solidFill>
                <a:latin typeface="Yeseva One"/>
                <a:ea typeface="Yeseva One"/>
                <a:cs typeface="Yeseva One"/>
                <a:sym typeface="Yeseva One"/>
              </a:rPr>
              <a:t>You</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308</Words>
  <Application>Microsoft Office PowerPoint</Application>
  <PresentationFormat>Custom</PresentationFormat>
  <Paragraphs>48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Libre Baskerville</vt:lpstr>
      <vt:lpstr>Libre Baskerville Italics</vt:lpstr>
      <vt:lpstr>Libre Baskerville Bold</vt:lpstr>
      <vt:lpstr>Arial</vt:lpstr>
      <vt:lpstr>Yeseva One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UML Project</dc:title>
  <cp:lastModifiedBy>Ralph Reyes</cp:lastModifiedBy>
  <cp:revision>7</cp:revision>
  <dcterms:created xsi:type="dcterms:W3CDTF">2006-08-16T00:00:00Z</dcterms:created>
  <dcterms:modified xsi:type="dcterms:W3CDTF">2025-02-24T17:32:15Z</dcterms:modified>
  <dc:identifier>DAGfwd0nxRc</dc:identifier>
</cp:coreProperties>
</file>